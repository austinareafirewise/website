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200400"/>
          </a:xfrm>
          <a:prstGeom prst="rect">
            <a:avLst/>
          </a:prstGeom>
          <a:solidFill>
            <a:srgbClr val="194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60120"/>
            <a:ext cx="10058400" cy="1097280"/>
          </a:xfrm>
          <a:prstGeom prst="rect">
            <a:avLst/>
          </a:prstGeom>
          <a:noFill/>
        </p:spPr>
        <p:txBody>
          <a:bodyPr wrap="square">
            <a:spAutoFit/>
          </a:bodyPr>
          <a:lstStyle/>
          <a:p>
            <a:pPr algn="l"/>
            <a:r>
              <a:rPr sz="4400" b="1" i="0">
                <a:solidFill>
                  <a:srgbClr val="FFFFFF"/>
                </a:solidFill>
                <a:latin typeface="Trebuchet MS"/>
              </a:rPr>
              <a:t>How the Alliance website works</a:t>
            </a:r>
          </a:p>
        </p:txBody>
      </p:sp>
      <p:sp>
        <p:nvSpPr>
          <p:cNvPr id="5" name="TextBox 4"/>
          <p:cNvSpPr txBox="1"/>
          <p:nvPr/>
        </p:nvSpPr>
        <p:spPr>
          <a:xfrm>
            <a:off x="914400" y="2148840"/>
            <a:ext cx="10058400" cy="640080"/>
          </a:xfrm>
          <a:prstGeom prst="rect">
            <a:avLst/>
          </a:prstGeom>
          <a:noFill/>
        </p:spPr>
        <p:txBody>
          <a:bodyPr wrap="square">
            <a:spAutoFit/>
          </a:bodyPr>
          <a:lstStyle/>
          <a:p>
            <a:pPr algn="l"/>
            <a:r>
              <a:rPr sz="1900" b="0" i="0">
                <a:solidFill>
                  <a:srgbClr val="D7E0D9"/>
                </a:solidFill>
                <a:latin typeface="Trebuchet MS"/>
              </a:rPr>
              <a:t>What it is built from, how a change reaches the public, and what it costs</a:t>
            </a:r>
          </a:p>
        </p:txBody>
      </p:sp>
      <p:sp>
        <p:nvSpPr>
          <p:cNvPr id="6" name="TextBox 5"/>
          <p:cNvSpPr txBox="1"/>
          <p:nvPr/>
        </p:nvSpPr>
        <p:spPr>
          <a:xfrm>
            <a:off x="914400" y="3931920"/>
            <a:ext cx="10058400" cy="1097280"/>
          </a:xfrm>
          <a:prstGeom prst="rect">
            <a:avLst/>
          </a:prstGeom>
          <a:noFill/>
        </p:spPr>
        <p:txBody>
          <a:bodyPr wrap="square">
            <a:spAutoFit/>
          </a:bodyPr>
          <a:lstStyle/>
          <a:p>
            <a:pPr algn="l"/>
            <a:r>
              <a:rPr sz="1700" b="1" i="0">
                <a:solidFill>
                  <a:srgbClr val="265438"/>
                </a:solidFill>
                <a:latin typeface="Trebuchet MS"/>
              </a:rPr>
              <a:t>Board briefing</a:t>
            </a:r>
          </a:p>
          <a:p>
            <a:r>
              <a:rPr sz="1500" b="0" i="0">
                <a:solidFill>
                  <a:srgbClr val="556666"/>
                </a:solidFill>
                <a:latin typeface="Trebuchet MS"/>
              </a:rPr>
              <a:t>September 2026</a:t>
            </a:r>
          </a:p>
          <a:p>
            <a:pPr>
              <a:spcBef>
                <a:spcPts val="1400"/>
              </a:spcBef>
            </a:pPr>
            <a:r>
              <a:rPr sz="1500" b="1" i="0">
                <a:solidFill>
                  <a:srgbClr val="A85512"/>
                </a:solidFill>
                <a:latin typeface="Trebuchet MS"/>
              </a:rPr>
              <a:t>www.austinareafirewise.org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607040" cy="365760"/>
          </a:xfrm>
          <a:prstGeom prst="rect">
            <a:avLst/>
          </a:prstGeom>
          <a:noFill/>
        </p:spPr>
        <p:txBody>
          <a:bodyPr wrap="square">
            <a:spAutoFit/>
          </a:bodyPr>
          <a:lstStyle/>
          <a:p>
            <a:pPr algn="l"/>
            <a:r>
              <a:rPr sz="1200" b="1" i="0">
                <a:solidFill>
                  <a:srgbClr val="4C784B"/>
                </a:solidFill>
                <a:latin typeface="Trebuchet MS"/>
              </a:rPr>
              <a:t>START HERE</a:t>
            </a:r>
          </a:p>
        </p:txBody>
      </p:sp>
      <p:sp>
        <p:nvSpPr>
          <p:cNvPr id="4" name="TextBox 3"/>
          <p:cNvSpPr txBox="1"/>
          <p:nvPr/>
        </p:nvSpPr>
        <p:spPr>
          <a:xfrm>
            <a:off x="777240" y="749808"/>
            <a:ext cx="10607040" cy="914400"/>
          </a:xfrm>
          <a:prstGeom prst="rect">
            <a:avLst/>
          </a:prstGeom>
          <a:noFill/>
        </p:spPr>
        <p:txBody>
          <a:bodyPr wrap="square">
            <a:spAutoFit/>
          </a:bodyPr>
          <a:lstStyle/>
          <a:p>
            <a:pPr algn="l"/>
            <a:r>
              <a:rPr sz="3200" b="1" i="0">
                <a:solidFill>
                  <a:srgbClr val="19462B"/>
                </a:solidFill>
                <a:latin typeface="Trebuchet MS"/>
              </a:rPr>
              <a:t>The short version</a:t>
            </a:r>
          </a:p>
        </p:txBody>
      </p:sp>
      <p:sp>
        <p:nvSpPr>
          <p:cNvPr id="5" name="Rectangle 4"/>
          <p:cNvSpPr/>
          <p:nvPr/>
        </p:nvSpPr>
        <p:spPr>
          <a:xfrm>
            <a:off x="777240" y="1463040"/>
            <a:ext cx="1371600" cy="50800"/>
          </a:xfrm>
          <a:prstGeom prst="rect">
            <a:avLst/>
          </a:prstGeom>
          <a:solidFill>
            <a:srgbClr val="DA7B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11680"/>
            <a:ext cx="10607040" cy="4114800"/>
          </a:xfrm>
          <a:prstGeom prst="rect">
            <a:avLst/>
          </a:prstGeom>
          <a:noFill/>
        </p:spPr>
        <p:txBody>
          <a:bodyPr wrap="square">
            <a:spAutoFit/>
          </a:bodyPr>
          <a:lstStyle/>
          <a:p>
            <a:pPr algn="l">
              <a:spcAft>
                <a:spcPts val="1600"/>
              </a:spcAft>
            </a:pPr>
            <a:r>
              <a:rPr sz="1800" b="1" i="0">
                <a:solidFill>
                  <a:srgbClr val="DA7B37"/>
                </a:solidFill>
                <a:latin typeface="Trebuchet MS"/>
              </a:rPr>
              <a:t>▪  </a:t>
            </a:r>
            <a:r>
              <a:rPr sz="1800" b="0" i="0">
                <a:solidFill>
                  <a:srgbClr val="1D2A21"/>
                </a:solidFill>
                <a:latin typeface="Trebuchet MS"/>
              </a:rPr>
              <a:t>The public website is a set of finished pages sitting on a web host. Nothing complicated happens when somebody opens it — which is exactly why it is fast and hard to break.</a:t>
            </a:r>
          </a:p>
          <a:p>
            <a:pPr>
              <a:spcAft>
                <a:spcPts val="1600"/>
              </a:spcAft>
            </a:pPr>
            <a:r>
              <a:rPr sz="1800" b="1" i="0">
                <a:solidFill>
                  <a:srgbClr val="DA7B37"/>
                </a:solidFill>
                <a:latin typeface="Trebuchet MS"/>
              </a:rPr>
              <a:t>▪  </a:t>
            </a:r>
            <a:r>
              <a:rPr sz="1800" b="0" i="0">
                <a:solidFill>
                  <a:srgbClr val="1D2A21"/>
                </a:solidFill>
                <a:latin typeface="Trebuchet MS"/>
              </a:rPr>
              <a:t>Behind a locked door, board members type meeting notices, news articles, and messages to the membership.</a:t>
            </a:r>
          </a:p>
          <a:p>
            <a:pPr>
              <a:spcAft>
                <a:spcPts val="1600"/>
              </a:spcAft>
            </a:pPr>
            <a:r>
              <a:rPr sz="1800" b="1" i="0">
                <a:solidFill>
                  <a:srgbClr val="DA7B37"/>
                </a:solidFill>
                <a:latin typeface="Trebuchet MS"/>
              </a:rPr>
              <a:t>▪  </a:t>
            </a:r>
            <a:r>
              <a:rPr sz="1800" b="0" i="0">
                <a:solidFill>
                  <a:srgbClr val="1D2A21"/>
                </a:solidFill>
                <a:latin typeface="Trebuchet MS"/>
              </a:rPr>
              <a:t>The two sides are kept deliberately apart. A visitor never touches the locked side, and a problem on the locked side never reaches a visitor.</a:t>
            </a:r>
          </a:p>
          <a:p>
            <a:pPr>
              <a:spcAft>
                <a:spcPts val="1600"/>
              </a:spcAft>
            </a:pPr>
            <a:r>
              <a:rPr sz="1800" b="1" i="0">
                <a:solidFill>
                  <a:srgbClr val="DA7B37"/>
                </a:solidFill>
                <a:latin typeface="Trebuchet MS"/>
              </a:rPr>
              <a:t>▪  </a:t>
            </a:r>
            <a:r>
              <a:rPr sz="1800" b="0" i="0">
                <a:solidFill>
                  <a:srgbClr val="1D2A21"/>
                </a:solidFill>
                <a:latin typeface="Trebuchet MS"/>
              </a:rPr>
              <a:t>Everything else in this deck is detail hanging off those three sentences.</a:t>
            </a:r>
          </a:p>
        </p:txBody>
      </p:sp>
      <p:sp>
        <p:nvSpPr>
          <p:cNvPr id="7" name="TextBox 6"/>
          <p:cNvSpPr txBox="1"/>
          <p:nvPr/>
        </p:nvSpPr>
        <p:spPr>
          <a:xfrm>
            <a:off x="777240" y="6355080"/>
            <a:ext cx="7315200" cy="320040"/>
          </a:xfrm>
          <a:prstGeom prst="rect">
            <a:avLst/>
          </a:prstGeom>
          <a:noFill/>
        </p:spPr>
        <p:txBody>
          <a:bodyPr wrap="square">
            <a:spAutoFit/>
          </a:bodyPr>
          <a:lstStyle/>
          <a:p>
            <a:pPr algn="l"/>
            <a:r>
              <a:rPr sz="1000" b="0" i="0">
                <a:solidFill>
                  <a:srgbClr val="556666"/>
                </a:solidFill>
                <a:latin typeface="Trebuchet MS"/>
              </a:rPr>
              <a:t>Austin Area Firewise Alliance</a:t>
            </a:r>
          </a:p>
        </p:txBody>
      </p:sp>
      <p:sp>
        <p:nvSpPr>
          <p:cNvPr id="8" name="TextBox 7"/>
          <p:cNvSpPr txBox="1"/>
          <p:nvPr/>
        </p:nvSpPr>
        <p:spPr>
          <a:xfrm>
            <a:off x="10058400" y="6355080"/>
            <a:ext cx="1371600" cy="320040"/>
          </a:xfrm>
          <a:prstGeom prst="rect">
            <a:avLst/>
          </a:prstGeom>
          <a:noFill/>
        </p:spPr>
        <p:txBody>
          <a:bodyPr wrap="square">
            <a:spAutoFit/>
          </a:bodyPr>
          <a:lstStyle/>
          <a:p>
            <a:pPr algn="r"/>
            <a:r>
              <a:rPr sz="1000" b="0" i="0">
                <a:solidFill>
                  <a:srgbClr val="556666"/>
                </a:solidFill>
                <a:latin typeface="Trebuchet M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607040" cy="365760"/>
          </a:xfrm>
          <a:prstGeom prst="rect">
            <a:avLst/>
          </a:prstGeom>
          <a:noFill/>
        </p:spPr>
        <p:txBody>
          <a:bodyPr wrap="square">
            <a:spAutoFit/>
          </a:bodyPr>
          <a:lstStyle/>
          <a:p>
            <a:pPr algn="l"/>
            <a:r>
              <a:rPr sz="1200" b="1" i="0">
                <a:solidFill>
                  <a:srgbClr val="4C784B"/>
                </a:solidFill>
                <a:latin typeface="Trebuchet MS"/>
              </a:rPr>
              <a:t>THE DESIGN</a:t>
            </a:r>
          </a:p>
        </p:txBody>
      </p:sp>
      <p:sp>
        <p:nvSpPr>
          <p:cNvPr id="4" name="TextBox 3"/>
          <p:cNvSpPr txBox="1"/>
          <p:nvPr/>
        </p:nvSpPr>
        <p:spPr>
          <a:xfrm>
            <a:off x="777240" y="749808"/>
            <a:ext cx="10607040" cy="914400"/>
          </a:xfrm>
          <a:prstGeom prst="rect">
            <a:avLst/>
          </a:prstGeom>
          <a:noFill/>
        </p:spPr>
        <p:txBody>
          <a:bodyPr wrap="square">
            <a:spAutoFit/>
          </a:bodyPr>
          <a:lstStyle/>
          <a:p>
            <a:pPr algn="l"/>
            <a:r>
              <a:rPr sz="3200" b="1" i="0">
                <a:solidFill>
                  <a:srgbClr val="19462B"/>
                </a:solidFill>
                <a:latin typeface="Trebuchet MS"/>
              </a:rPr>
              <a:t>Two halves, on purpose</a:t>
            </a:r>
          </a:p>
        </p:txBody>
      </p:sp>
      <p:sp>
        <p:nvSpPr>
          <p:cNvPr id="5" name="Rectangle 4"/>
          <p:cNvSpPr/>
          <p:nvPr/>
        </p:nvSpPr>
        <p:spPr>
          <a:xfrm>
            <a:off x="777240" y="1463040"/>
            <a:ext cx="1371600" cy="50800"/>
          </a:xfrm>
          <a:prstGeom prst="rect">
            <a:avLst/>
          </a:prstGeom>
          <a:solidFill>
            <a:srgbClr val="DA7B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4937760" cy="457200"/>
          </a:xfrm>
          <a:prstGeom prst="rect">
            <a:avLst/>
          </a:prstGeom>
          <a:noFill/>
        </p:spPr>
        <p:txBody>
          <a:bodyPr wrap="square">
            <a:spAutoFit/>
          </a:bodyPr>
          <a:lstStyle/>
          <a:p>
            <a:pPr algn="l"/>
            <a:r>
              <a:rPr sz="1200" b="0" i="0">
                <a:solidFill>
                  <a:srgbClr val="4C784B"/>
                </a:solidFill>
                <a:latin typeface="Trebuchet MS"/>
              </a:rPr>
              <a:t>BOARD MEMBER  —  signed in</a:t>
            </a:r>
          </a:p>
        </p:txBody>
      </p:sp>
      <p:sp>
        <p:nvSpPr>
          <p:cNvPr id="7" name="Rounded Rectangle 6"/>
          <p:cNvSpPr/>
          <p:nvPr/>
        </p:nvSpPr>
        <p:spPr>
          <a:xfrm>
            <a:off x="777240" y="2148840"/>
            <a:ext cx="1737360" cy="777240"/>
          </a:xfrm>
          <a:prstGeom prst="roundRect">
            <a:avLst/>
          </a:prstGeom>
          <a:solidFill>
            <a:srgbClr val="FFFFFF"/>
          </a:solidFill>
          <a:ln w="22225">
            <a:solidFill>
              <a:srgbClr val="265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9462B"/>
                </a:solidFill>
                <a:latin typeface="Trebuchet MS"/>
              </a:rPr>
              <a:t>Board member</a:t>
            </a:r>
          </a:p>
        </p:txBody>
      </p:sp>
      <p:cxnSp>
        <p:nvCxnSpPr>
          <p:cNvPr id="8" name="Connector 7"/>
          <p:cNvCxnSpPr/>
          <p:nvPr/>
        </p:nvCxnSpPr>
        <p:spPr>
          <a:xfrm>
            <a:off x="2606040" y="2542032"/>
            <a:ext cx="365760" cy="0"/>
          </a:xfrm>
          <a:prstGeom prst="line">
            <a:avLst/>
          </a:prstGeom>
          <a:ln w="31750">
            <a:solidFill>
              <a:srgbClr val="A855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17520" y="2148840"/>
            <a:ext cx="1554480" cy="777240"/>
          </a:xfrm>
          <a:prstGeom prst="roundRect">
            <a:avLst/>
          </a:prstGeom>
          <a:solidFill>
            <a:srgbClr val="FFFFFF"/>
          </a:solidFill>
          <a:ln w="22225">
            <a:solidFill>
              <a:srgbClr val="265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9462B"/>
                </a:solidFill>
                <a:latin typeface="Trebuchet MS"/>
              </a:rPr>
              <a:t>Sign in</a:t>
            </a:r>
          </a:p>
          <a:p>
            <a:pPr algn="ctr"/>
            <a:r>
              <a:rPr sz="1100" b="0" i="0">
                <a:solidFill>
                  <a:srgbClr val="556666"/>
                </a:solidFill>
                <a:latin typeface="Trebuchet MS"/>
              </a:rPr>
              <a:t>checks who you are</a:t>
            </a:r>
          </a:p>
        </p:txBody>
      </p:sp>
      <p:cxnSp>
        <p:nvCxnSpPr>
          <p:cNvPr id="10" name="Connector 9"/>
          <p:cNvCxnSpPr/>
          <p:nvPr/>
        </p:nvCxnSpPr>
        <p:spPr>
          <a:xfrm>
            <a:off x="4663440" y="2542032"/>
            <a:ext cx="365760" cy="0"/>
          </a:xfrm>
          <a:prstGeom prst="line">
            <a:avLst/>
          </a:prstGeom>
          <a:ln w="31750">
            <a:solidFill>
              <a:srgbClr val="A855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74920" y="2148840"/>
            <a:ext cx="1737360" cy="777240"/>
          </a:xfrm>
          <a:prstGeom prst="roundRect">
            <a:avLst/>
          </a:prstGeom>
          <a:solidFill>
            <a:srgbClr val="FFFFFF"/>
          </a:solidFill>
          <a:ln w="22225">
            <a:solidFill>
              <a:srgbClr val="265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9462B"/>
                </a:solidFill>
                <a:latin typeface="Trebuchet MS"/>
              </a:rPr>
              <a:t>Admin area</a:t>
            </a:r>
          </a:p>
          <a:p>
            <a:pPr algn="ctr"/>
            <a:r>
              <a:rPr sz="1100" b="0" i="0">
                <a:solidFill>
                  <a:srgbClr val="556666"/>
                </a:solidFill>
                <a:latin typeface="Trebuchet MS"/>
              </a:rPr>
              <a:t>the five sections</a:t>
            </a:r>
          </a:p>
        </p:txBody>
      </p:sp>
      <p:cxnSp>
        <p:nvCxnSpPr>
          <p:cNvPr id="12" name="Connector 11"/>
          <p:cNvCxnSpPr/>
          <p:nvPr/>
        </p:nvCxnSpPr>
        <p:spPr>
          <a:xfrm>
            <a:off x="6903720" y="2542032"/>
            <a:ext cx="365760" cy="0"/>
          </a:xfrm>
          <a:prstGeom prst="line">
            <a:avLst/>
          </a:prstGeom>
          <a:ln w="31750">
            <a:solidFill>
              <a:srgbClr val="A855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15200" y="2148840"/>
            <a:ext cx="1737360" cy="777240"/>
          </a:xfrm>
          <a:prstGeom prst="roundRect">
            <a:avLst/>
          </a:prstGeom>
          <a:solidFill>
            <a:srgbClr val="FFFFFF"/>
          </a:solidFill>
          <a:ln w="22225">
            <a:solidFill>
              <a:srgbClr val="265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9462B"/>
                </a:solidFill>
                <a:latin typeface="Trebuchet MS"/>
              </a:rPr>
              <a:t>The ledger</a:t>
            </a:r>
          </a:p>
          <a:p>
            <a:pPr algn="ctr"/>
            <a:r>
              <a:rPr sz="1100" b="0" i="0">
                <a:solidFill>
                  <a:srgbClr val="556666"/>
                </a:solidFill>
                <a:latin typeface="Trebuchet MS"/>
              </a:rPr>
              <a:t>members, notices</a:t>
            </a:r>
          </a:p>
        </p:txBody>
      </p:sp>
      <p:cxnSp>
        <p:nvCxnSpPr>
          <p:cNvPr id="14" name="Connector 13"/>
          <p:cNvCxnSpPr/>
          <p:nvPr/>
        </p:nvCxnSpPr>
        <p:spPr>
          <a:xfrm>
            <a:off x="8183879" y="2971800"/>
            <a:ext cx="0" cy="731520"/>
          </a:xfrm>
          <a:prstGeom prst="line">
            <a:avLst/>
          </a:prstGeom>
          <a:ln w="31750">
            <a:solidFill>
              <a:srgbClr val="A855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75320" y="3063240"/>
            <a:ext cx="2926080" cy="457200"/>
          </a:xfrm>
          <a:prstGeom prst="rect">
            <a:avLst/>
          </a:prstGeom>
          <a:noFill/>
        </p:spPr>
        <p:txBody>
          <a:bodyPr wrap="square">
            <a:spAutoFit/>
          </a:bodyPr>
          <a:lstStyle/>
          <a:p>
            <a:pPr algn="l"/>
            <a:r>
              <a:rPr sz="1100" b="0" i="0">
                <a:solidFill>
                  <a:srgbClr val="A85512"/>
                </a:solidFill>
                <a:latin typeface="Trebuchet MS"/>
              </a:rPr>
              <a:t>Publish writes one public file</a:t>
            </a:r>
          </a:p>
        </p:txBody>
      </p:sp>
      <p:sp>
        <p:nvSpPr>
          <p:cNvPr id="16" name="Rounded Rectangle 15"/>
          <p:cNvSpPr/>
          <p:nvPr/>
        </p:nvSpPr>
        <p:spPr>
          <a:xfrm>
            <a:off x="7315200" y="3749039"/>
            <a:ext cx="1737360" cy="777240"/>
          </a:xfrm>
          <a:prstGeom prst="roundRect">
            <a:avLst/>
          </a:prstGeom>
          <a:solidFill>
            <a:srgbClr val="D7E0D9"/>
          </a:solidFill>
          <a:ln w="22225">
            <a:solidFill>
              <a:srgbClr val="265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9462B"/>
                </a:solidFill>
                <a:latin typeface="Trebuchet MS"/>
              </a:rPr>
              <a:t>Published files</a:t>
            </a:r>
          </a:p>
          <a:p>
            <a:pPr algn="ctr"/>
            <a:r>
              <a:rPr sz="1100" b="0" i="0">
                <a:solidFill>
                  <a:srgbClr val="556666"/>
                </a:solidFill>
                <a:latin typeface="Trebuchet MS"/>
              </a:rPr>
              <a:t>pages and photos</a:t>
            </a:r>
          </a:p>
        </p:txBody>
      </p:sp>
      <p:sp>
        <p:nvSpPr>
          <p:cNvPr id="17" name="TextBox 16"/>
          <p:cNvSpPr txBox="1"/>
          <p:nvPr/>
        </p:nvSpPr>
        <p:spPr>
          <a:xfrm>
            <a:off x="777240" y="3429000"/>
            <a:ext cx="4937760" cy="457200"/>
          </a:xfrm>
          <a:prstGeom prst="rect">
            <a:avLst/>
          </a:prstGeom>
          <a:noFill/>
        </p:spPr>
        <p:txBody>
          <a:bodyPr wrap="square">
            <a:spAutoFit/>
          </a:bodyPr>
          <a:lstStyle/>
          <a:p>
            <a:pPr algn="l"/>
            <a:r>
              <a:rPr sz="1200" b="0" i="0">
                <a:solidFill>
                  <a:srgbClr val="4C784B"/>
                </a:solidFill>
                <a:latin typeface="Trebuchet MS"/>
              </a:rPr>
              <a:t>EVERYONE  —  no sign-in needed</a:t>
            </a:r>
          </a:p>
        </p:txBody>
      </p:sp>
      <p:sp>
        <p:nvSpPr>
          <p:cNvPr id="18" name="Rounded Rectangle 17"/>
          <p:cNvSpPr/>
          <p:nvPr/>
        </p:nvSpPr>
        <p:spPr>
          <a:xfrm>
            <a:off x="3017520" y="3749039"/>
            <a:ext cx="3794760" cy="777240"/>
          </a:xfrm>
          <a:prstGeom prst="roundRect">
            <a:avLst/>
          </a:prstGeom>
          <a:solidFill>
            <a:srgbClr val="D7E0D9"/>
          </a:solidFill>
          <a:ln w="22225">
            <a:solidFill>
              <a:srgbClr val="265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9462B"/>
                </a:solidFill>
                <a:latin typeface="Trebuchet MS"/>
              </a:rPr>
              <a:t>www.austinareafirewise.org</a:t>
            </a:r>
          </a:p>
          <a:p>
            <a:pPr algn="ctr"/>
            <a:r>
              <a:rPr sz="1100" b="0" i="0">
                <a:solidFill>
                  <a:srgbClr val="556666"/>
                </a:solidFill>
                <a:latin typeface="Trebuchet MS"/>
              </a:rPr>
              <a:t>what the public sees</a:t>
            </a:r>
          </a:p>
        </p:txBody>
      </p:sp>
      <p:cxnSp>
        <p:nvCxnSpPr>
          <p:cNvPr id="19" name="Connector 18"/>
          <p:cNvCxnSpPr/>
          <p:nvPr/>
        </p:nvCxnSpPr>
        <p:spPr>
          <a:xfrm flipH="1">
            <a:off x="6903720" y="4142232"/>
            <a:ext cx="365760" cy="0"/>
          </a:xfrm>
          <a:prstGeom prst="line">
            <a:avLst/>
          </a:prstGeom>
          <a:ln w="31750">
            <a:solidFill>
              <a:srgbClr val="A855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7240" y="5029200"/>
            <a:ext cx="10607040" cy="777240"/>
          </a:xfrm>
          <a:prstGeom prst="roundRect">
            <a:avLst/>
          </a:prstGeom>
          <a:solidFill>
            <a:srgbClr val="D7E0D9"/>
          </a:solidFill>
          <a:ln w="12700">
            <a:solidFill>
              <a:srgbClr val="4C784B"/>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0" i="0">
                <a:solidFill>
                  <a:srgbClr val="19462B"/>
                </a:solidFill>
                <a:latin typeface="Trebuchet MS"/>
              </a:rPr>
              <a:t>If the locked side is down, broken or under attack, visitors see no difference at all — the website keeps serving whatever was published last. On a page people may open during an actual fire, that is the property that matters most.</a:t>
            </a:r>
          </a:p>
        </p:txBody>
      </p:sp>
      <p:sp>
        <p:nvSpPr>
          <p:cNvPr id="21" name="TextBox 20"/>
          <p:cNvSpPr txBox="1"/>
          <p:nvPr/>
        </p:nvSpPr>
        <p:spPr>
          <a:xfrm>
            <a:off x="777240" y="6355080"/>
            <a:ext cx="7315200" cy="320040"/>
          </a:xfrm>
          <a:prstGeom prst="rect">
            <a:avLst/>
          </a:prstGeom>
          <a:noFill/>
        </p:spPr>
        <p:txBody>
          <a:bodyPr wrap="square">
            <a:spAutoFit/>
          </a:bodyPr>
          <a:lstStyle/>
          <a:p>
            <a:pPr algn="l"/>
            <a:r>
              <a:rPr sz="1000" b="0" i="0">
                <a:solidFill>
                  <a:srgbClr val="556666"/>
                </a:solidFill>
                <a:latin typeface="Trebuchet MS"/>
              </a:rPr>
              <a:t>Austin Area Firewise Alliance</a:t>
            </a:r>
          </a:p>
        </p:txBody>
      </p:sp>
      <p:sp>
        <p:nvSpPr>
          <p:cNvPr id="22" name="TextBox 21"/>
          <p:cNvSpPr txBox="1"/>
          <p:nvPr/>
        </p:nvSpPr>
        <p:spPr>
          <a:xfrm>
            <a:off x="10058400" y="6355080"/>
            <a:ext cx="1371600" cy="320040"/>
          </a:xfrm>
          <a:prstGeom prst="rect">
            <a:avLst/>
          </a:prstGeom>
          <a:noFill/>
        </p:spPr>
        <p:txBody>
          <a:bodyPr wrap="square">
            <a:spAutoFit/>
          </a:bodyPr>
          <a:lstStyle/>
          <a:p>
            <a:pPr algn="r"/>
            <a:r>
              <a:rPr sz="1000" b="0" i="0">
                <a:solidFill>
                  <a:srgbClr val="556666"/>
                </a:solidFill>
                <a:latin typeface="Trebuchet M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607040" cy="365760"/>
          </a:xfrm>
          <a:prstGeom prst="rect">
            <a:avLst/>
          </a:prstGeom>
          <a:noFill/>
        </p:spPr>
        <p:txBody>
          <a:bodyPr wrap="square">
            <a:spAutoFit/>
          </a:bodyPr>
          <a:lstStyle/>
          <a:p>
            <a:pPr algn="l"/>
            <a:r>
              <a:rPr sz="1200" b="1" i="0">
                <a:solidFill>
                  <a:srgbClr val="4C784B"/>
                </a:solidFill>
                <a:latin typeface="Trebuchet MS"/>
              </a:rPr>
              <a:t>IN PRACTICE</a:t>
            </a:r>
          </a:p>
        </p:txBody>
      </p:sp>
      <p:sp>
        <p:nvSpPr>
          <p:cNvPr id="4" name="TextBox 3"/>
          <p:cNvSpPr txBox="1"/>
          <p:nvPr/>
        </p:nvSpPr>
        <p:spPr>
          <a:xfrm>
            <a:off x="777240" y="749808"/>
            <a:ext cx="10607040" cy="914400"/>
          </a:xfrm>
          <a:prstGeom prst="rect">
            <a:avLst/>
          </a:prstGeom>
          <a:noFill/>
        </p:spPr>
        <p:txBody>
          <a:bodyPr wrap="square">
            <a:spAutoFit/>
          </a:bodyPr>
          <a:lstStyle/>
          <a:p>
            <a:pPr algn="l"/>
            <a:r>
              <a:rPr sz="3200" b="1" i="0">
                <a:solidFill>
                  <a:srgbClr val="19462B"/>
                </a:solidFill>
                <a:latin typeface="Trebuchet MS"/>
              </a:rPr>
              <a:t>What the board actually uses</a:t>
            </a:r>
          </a:p>
        </p:txBody>
      </p:sp>
      <p:sp>
        <p:nvSpPr>
          <p:cNvPr id="5" name="Rectangle 4"/>
          <p:cNvSpPr/>
          <p:nvPr/>
        </p:nvSpPr>
        <p:spPr>
          <a:xfrm>
            <a:off x="777240" y="1463040"/>
            <a:ext cx="1371600" cy="50800"/>
          </a:xfrm>
          <a:prstGeom prst="rect">
            <a:avLst/>
          </a:prstGeom>
          <a:solidFill>
            <a:srgbClr val="DA7B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11680"/>
            <a:ext cx="10607040" cy="4114800"/>
          </a:xfrm>
          <a:prstGeom prst="rect">
            <a:avLst/>
          </a:prstGeom>
          <a:noFill/>
        </p:spPr>
        <p:txBody>
          <a:bodyPr wrap="square">
            <a:spAutoFit/>
          </a:bodyPr>
          <a:lstStyle/>
          <a:p>
            <a:pPr algn="l">
              <a:spcAft>
                <a:spcPts val="1500"/>
              </a:spcAft>
            </a:pPr>
            <a:r>
              <a:rPr sz="1700" b="1" i="0">
                <a:solidFill>
                  <a:srgbClr val="DA7B37"/>
                </a:solidFill>
                <a:latin typeface="Trebuchet MS"/>
              </a:rPr>
              <a:t>▪  </a:t>
            </a:r>
            <a:r>
              <a:rPr sz="1700" b="1" i="0">
                <a:solidFill>
                  <a:srgbClr val="19462B"/>
                </a:solidFill>
                <a:latin typeface="Trebuchet MS"/>
              </a:rPr>
              <a:t>Where.</a:t>
            </a:r>
            <a:r>
              <a:rPr sz="1700" b="0" i="0">
                <a:solidFill>
                  <a:srgbClr val="1D2A21"/>
                </a:solidFill>
                <a:latin typeface="Trebuchet MS"/>
              </a:rPr>
              <a:t>  www.austinareafirewise.org/admin/ — the same website, one extra word in the address.</a:t>
            </a:r>
          </a:p>
          <a:p>
            <a:pPr>
              <a:spcAft>
                <a:spcPts val="1500"/>
              </a:spcAft>
            </a:pPr>
            <a:r>
              <a:rPr sz="1700" b="1" i="0">
                <a:solidFill>
                  <a:srgbClr val="DA7B37"/>
                </a:solidFill>
                <a:latin typeface="Trebuchet MS"/>
              </a:rPr>
              <a:t>▪  </a:t>
            </a:r>
            <a:r>
              <a:rPr sz="1700" b="1" i="0">
                <a:solidFill>
                  <a:srgbClr val="19462B"/>
                </a:solidFill>
                <a:latin typeface="Trebuchet MS"/>
              </a:rPr>
              <a:t>Signing in.</a:t>
            </a:r>
            <a:r>
              <a:rPr sz="1700" b="0" i="0">
                <a:solidFill>
                  <a:srgbClr val="1D2A21"/>
                </a:solidFill>
                <a:latin typeface="Trebuchet MS"/>
              </a:rPr>
              <a:t>  Your own email and your own password. Each board member has their own.</a:t>
            </a:r>
          </a:p>
          <a:p>
            <a:pPr>
              <a:spcAft>
                <a:spcPts val="1500"/>
              </a:spcAft>
            </a:pPr>
            <a:r>
              <a:rPr sz="1700" b="1" i="0">
                <a:solidFill>
                  <a:srgbClr val="DA7B37"/>
                </a:solidFill>
                <a:latin typeface="Trebuchet MS"/>
              </a:rPr>
              <a:t>▪  </a:t>
            </a:r>
            <a:r>
              <a:rPr sz="1700" b="1" i="0">
                <a:solidFill>
                  <a:srgbClr val="19462B"/>
                </a:solidFill>
                <a:latin typeface="Trebuchet MS"/>
              </a:rPr>
              <a:t>Five sections.</a:t>
            </a:r>
            <a:r>
              <a:rPr sz="1700" b="0" i="0">
                <a:solidFill>
                  <a:srgbClr val="1D2A21"/>
                </a:solidFill>
                <a:latin typeface="Trebuchet MS"/>
              </a:rPr>
              <a:t>  News &amp; notices  ·  Members  ·  Messages  ·  Firewise groups  ·  Board.</a:t>
            </a:r>
          </a:p>
          <a:p>
            <a:pPr>
              <a:spcAft>
                <a:spcPts val="1500"/>
              </a:spcAft>
            </a:pPr>
            <a:r>
              <a:rPr sz="1700" b="1" i="0">
                <a:solidFill>
                  <a:srgbClr val="DA7B37"/>
                </a:solidFill>
                <a:latin typeface="Trebuchet MS"/>
              </a:rPr>
              <a:t>▪  </a:t>
            </a:r>
            <a:r>
              <a:rPr sz="1700" b="1" i="0">
                <a:solidFill>
                  <a:srgbClr val="19462B"/>
                </a:solidFill>
                <a:latin typeface="Trebuchet MS"/>
              </a:rPr>
              <a:t>Nothing to install.</a:t>
            </a:r>
            <a:r>
              <a:rPr sz="1700" b="0" i="0">
                <a:solidFill>
                  <a:srgbClr val="1D2A21"/>
                </a:solidFill>
                <a:latin typeface="Trebuchet MS"/>
              </a:rPr>
              <a:t>  It is a web page. It works on a laptop, a tablet or a phone.</a:t>
            </a:r>
          </a:p>
          <a:p>
            <a:pPr>
              <a:spcAft>
                <a:spcPts val="1500"/>
              </a:spcAft>
            </a:pPr>
            <a:r>
              <a:rPr sz="1700" b="1" i="0">
                <a:solidFill>
                  <a:srgbClr val="DA7B37"/>
                </a:solidFill>
                <a:latin typeface="Trebuchet MS"/>
              </a:rPr>
              <a:t>▪  </a:t>
            </a:r>
            <a:r>
              <a:rPr sz="1700" b="1" i="0">
                <a:solidFill>
                  <a:srgbClr val="19462B"/>
                </a:solidFill>
                <a:latin typeface="Trebuchet MS"/>
              </a:rPr>
              <a:t>Help on the screen.</a:t>
            </a:r>
            <a:r>
              <a:rPr sz="1700" b="0" i="0">
                <a:solidFill>
                  <a:srgbClr val="1D2A21"/>
                </a:solidFill>
                <a:latin typeface="Trebuchet MS"/>
              </a:rPr>
              <a:t>  A “? Help” button beside the section tabs explains whichever section you are in, in plain words.</a:t>
            </a:r>
          </a:p>
        </p:txBody>
      </p:sp>
      <p:sp>
        <p:nvSpPr>
          <p:cNvPr id="7" name="Rounded Rectangle 6"/>
          <p:cNvSpPr/>
          <p:nvPr/>
        </p:nvSpPr>
        <p:spPr>
          <a:xfrm>
            <a:off x="777240" y="5394960"/>
            <a:ext cx="10607040" cy="777240"/>
          </a:xfrm>
          <a:prstGeom prst="roundRect">
            <a:avLst/>
          </a:prstGeom>
          <a:solidFill>
            <a:srgbClr val="D7E0D9"/>
          </a:solidFill>
          <a:ln w="12700">
            <a:solidFill>
              <a:srgbClr val="4C784B"/>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0" i="0">
                <a:solidFill>
                  <a:srgbClr val="19462B"/>
                </a:solidFill>
                <a:latin typeface="Trebuchet MS"/>
              </a:rPr>
              <a:t>Nothing a board member types is visible to the public until they press Publish.</a:t>
            </a:r>
          </a:p>
        </p:txBody>
      </p:sp>
      <p:sp>
        <p:nvSpPr>
          <p:cNvPr id="8" name="TextBox 7"/>
          <p:cNvSpPr txBox="1"/>
          <p:nvPr/>
        </p:nvSpPr>
        <p:spPr>
          <a:xfrm>
            <a:off x="777240" y="6355080"/>
            <a:ext cx="7315200" cy="320040"/>
          </a:xfrm>
          <a:prstGeom prst="rect">
            <a:avLst/>
          </a:prstGeom>
          <a:noFill/>
        </p:spPr>
        <p:txBody>
          <a:bodyPr wrap="square">
            <a:spAutoFit/>
          </a:bodyPr>
          <a:lstStyle/>
          <a:p>
            <a:pPr algn="l"/>
            <a:r>
              <a:rPr sz="1000" b="0" i="0">
                <a:solidFill>
                  <a:srgbClr val="556666"/>
                </a:solidFill>
                <a:latin typeface="Trebuchet MS"/>
              </a:rPr>
              <a:t>Austin Area Firewise Alliance</a:t>
            </a:r>
          </a:p>
        </p:txBody>
      </p:sp>
      <p:sp>
        <p:nvSpPr>
          <p:cNvPr id="9" name="TextBox 8"/>
          <p:cNvSpPr txBox="1"/>
          <p:nvPr/>
        </p:nvSpPr>
        <p:spPr>
          <a:xfrm>
            <a:off x="10058400" y="6355080"/>
            <a:ext cx="1371600" cy="320040"/>
          </a:xfrm>
          <a:prstGeom prst="rect">
            <a:avLst/>
          </a:prstGeom>
          <a:noFill/>
        </p:spPr>
        <p:txBody>
          <a:bodyPr wrap="square">
            <a:spAutoFit/>
          </a:bodyPr>
          <a:lstStyle/>
          <a:p>
            <a:pPr algn="r"/>
            <a:r>
              <a:rPr sz="1000" b="0" i="0">
                <a:solidFill>
                  <a:srgbClr val="556666"/>
                </a:solidFill>
                <a:latin typeface="Trebuchet M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607040" cy="365760"/>
          </a:xfrm>
          <a:prstGeom prst="rect">
            <a:avLst/>
          </a:prstGeom>
          <a:noFill/>
        </p:spPr>
        <p:txBody>
          <a:bodyPr wrap="square">
            <a:spAutoFit/>
          </a:bodyPr>
          <a:lstStyle/>
          <a:p>
            <a:pPr algn="l"/>
            <a:r>
              <a:rPr sz="1200" b="1" i="0">
                <a:solidFill>
                  <a:srgbClr val="4C784B"/>
                </a:solidFill>
                <a:latin typeface="Trebuchet MS"/>
              </a:rPr>
              <a:t>THE PARTS LIST</a:t>
            </a:r>
          </a:p>
        </p:txBody>
      </p:sp>
      <p:sp>
        <p:nvSpPr>
          <p:cNvPr id="4" name="TextBox 3"/>
          <p:cNvSpPr txBox="1"/>
          <p:nvPr/>
        </p:nvSpPr>
        <p:spPr>
          <a:xfrm>
            <a:off x="777240" y="749808"/>
            <a:ext cx="10607040" cy="914400"/>
          </a:xfrm>
          <a:prstGeom prst="rect">
            <a:avLst/>
          </a:prstGeom>
          <a:noFill/>
        </p:spPr>
        <p:txBody>
          <a:bodyPr wrap="square">
            <a:spAutoFit/>
          </a:bodyPr>
          <a:lstStyle/>
          <a:p>
            <a:pPr algn="l"/>
            <a:r>
              <a:rPr sz="3200" b="1" i="0">
                <a:solidFill>
                  <a:srgbClr val="19462B"/>
                </a:solidFill>
                <a:latin typeface="Trebuchet MS"/>
              </a:rPr>
              <a:t>The pieces, in plain words</a:t>
            </a:r>
          </a:p>
        </p:txBody>
      </p:sp>
      <p:sp>
        <p:nvSpPr>
          <p:cNvPr id="5" name="Rectangle 4"/>
          <p:cNvSpPr/>
          <p:nvPr/>
        </p:nvSpPr>
        <p:spPr>
          <a:xfrm>
            <a:off x="777240" y="1463040"/>
            <a:ext cx="1371600" cy="50800"/>
          </a:xfrm>
          <a:prstGeom prst="rect">
            <a:avLst/>
          </a:prstGeom>
          <a:solidFill>
            <a:srgbClr val="DA7B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920240" cy="457200"/>
          </a:xfrm>
          <a:prstGeom prst="rect">
            <a:avLst/>
          </a:prstGeom>
          <a:noFill/>
        </p:spPr>
        <p:txBody>
          <a:bodyPr wrap="square">
            <a:spAutoFit/>
          </a:bodyPr>
          <a:lstStyle/>
          <a:p>
            <a:pPr algn="l"/>
            <a:r>
              <a:rPr sz="1500" b="1" i="0">
                <a:solidFill>
                  <a:srgbClr val="19462B"/>
                </a:solidFill>
                <a:latin typeface="Trebuchet MS"/>
              </a:rPr>
              <a:t>Route 53</a:t>
            </a:r>
          </a:p>
        </p:txBody>
      </p:sp>
      <p:sp>
        <p:nvSpPr>
          <p:cNvPr id="7" name="TextBox 6"/>
          <p:cNvSpPr txBox="1"/>
          <p:nvPr/>
        </p:nvSpPr>
        <p:spPr>
          <a:xfrm>
            <a:off x="2743200" y="1783080"/>
            <a:ext cx="8595360" cy="457200"/>
          </a:xfrm>
          <a:prstGeom prst="rect">
            <a:avLst/>
          </a:prstGeom>
          <a:noFill/>
        </p:spPr>
        <p:txBody>
          <a:bodyPr wrap="square">
            <a:spAutoFit/>
          </a:bodyPr>
          <a:lstStyle/>
          <a:p>
            <a:pPr algn="l"/>
            <a:r>
              <a:rPr sz="1400" b="0" i="0">
                <a:solidFill>
                  <a:srgbClr val="1D2A21"/>
                </a:solidFill>
                <a:latin typeface="Trebuchet MS"/>
              </a:rPr>
              <a:t>The phone book. Turns “austinareafirewise.org” into an actual address on the internet.</a:t>
            </a:r>
          </a:p>
        </p:txBody>
      </p:sp>
      <p:sp>
        <p:nvSpPr>
          <p:cNvPr id="8" name="TextBox 7"/>
          <p:cNvSpPr txBox="1"/>
          <p:nvPr/>
        </p:nvSpPr>
        <p:spPr>
          <a:xfrm>
            <a:off x="777240" y="2350008"/>
            <a:ext cx="1920240" cy="457200"/>
          </a:xfrm>
          <a:prstGeom prst="rect">
            <a:avLst/>
          </a:prstGeom>
          <a:noFill/>
        </p:spPr>
        <p:txBody>
          <a:bodyPr wrap="square">
            <a:spAutoFit/>
          </a:bodyPr>
          <a:lstStyle/>
          <a:p>
            <a:pPr algn="l"/>
            <a:r>
              <a:rPr sz="1500" b="1" i="0">
                <a:solidFill>
                  <a:srgbClr val="19462B"/>
                </a:solidFill>
                <a:latin typeface="Trebuchet MS"/>
              </a:rPr>
              <a:t>Amplify</a:t>
            </a:r>
          </a:p>
        </p:txBody>
      </p:sp>
      <p:sp>
        <p:nvSpPr>
          <p:cNvPr id="9" name="TextBox 8"/>
          <p:cNvSpPr txBox="1"/>
          <p:nvPr/>
        </p:nvSpPr>
        <p:spPr>
          <a:xfrm>
            <a:off x="2743200" y="2350008"/>
            <a:ext cx="8595360" cy="457200"/>
          </a:xfrm>
          <a:prstGeom prst="rect">
            <a:avLst/>
          </a:prstGeom>
          <a:noFill/>
        </p:spPr>
        <p:txBody>
          <a:bodyPr wrap="square">
            <a:spAutoFit/>
          </a:bodyPr>
          <a:lstStyle/>
          <a:p>
            <a:pPr algn="l"/>
            <a:r>
              <a:rPr sz="1400" b="0" i="0">
                <a:solidFill>
                  <a:srgbClr val="1D2A21"/>
                </a:solidFill>
                <a:latin typeface="Trebuchet MS"/>
              </a:rPr>
              <a:t>The building. Holds the pages, serves them to visitors, and provides the padlock in the address bar.</a:t>
            </a:r>
          </a:p>
        </p:txBody>
      </p:sp>
      <p:sp>
        <p:nvSpPr>
          <p:cNvPr id="10" name="TextBox 9"/>
          <p:cNvSpPr txBox="1"/>
          <p:nvPr/>
        </p:nvSpPr>
        <p:spPr>
          <a:xfrm>
            <a:off x="777240" y="2916936"/>
            <a:ext cx="1920240" cy="457200"/>
          </a:xfrm>
          <a:prstGeom prst="rect">
            <a:avLst/>
          </a:prstGeom>
          <a:noFill/>
        </p:spPr>
        <p:txBody>
          <a:bodyPr wrap="square">
            <a:spAutoFit/>
          </a:bodyPr>
          <a:lstStyle/>
          <a:p>
            <a:pPr algn="l"/>
            <a:r>
              <a:rPr sz="1500" b="1" i="0">
                <a:solidFill>
                  <a:srgbClr val="19462B"/>
                </a:solidFill>
                <a:latin typeface="Trebuchet MS"/>
              </a:rPr>
              <a:t>S3</a:t>
            </a:r>
          </a:p>
        </p:txBody>
      </p:sp>
      <p:sp>
        <p:nvSpPr>
          <p:cNvPr id="11" name="TextBox 10"/>
          <p:cNvSpPr txBox="1"/>
          <p:nvPr/>
        </p:nvSpPr>
        <p:spPr>
          <a:xfrm>
            <a:off x="2743200" y="2916936"/>
            <a:ext cx="8595360" cy="457200"/>
          </a:xfrm>
          <a:prstGeom prst="rect">
            <a:avLst/>
          </a:prstGeom>
          <a:noFill/>
        </p:spPr>
        <p:txBody>
          <a:bodyPr wrap="square">
            <a:spAutoFit/>
          </a:bodyPr>
          <a:lstStyle/>
          <a:p>
            <a:pPr algn="l"/>
            <a:r>
              <a:rPr sz="1400" b="0" i="0">
                <a:solidFill>
                  <a:srgbClr val="1D2A21"/>
                </a:solidFill>
                <a:latin typeface="Trebuchet MS"/>
              </a:rPr>
              <a:t>The filing cabinet. Published content and photographs.</a:t>
            </a:r>
          </a:p>
        </p:txBody>
      </p:sp>
      <p:sp>
        <p:nvSpPr>
          <p:cNvPr id="12" name="TextBox 11"/>
          <p:cNvSpPr txBox="1"/>
          <p:nvPr/>
        </p:nvSpPr>
        <p:spPr>
          <a:xfrm>
            <a:off x="777240" y="3483864"/>
            <a:ext cx="1920240" cy="457200"/>
          </a:xfrm>
          <a:prstGeom prst="rect">
            <a:avLst/>
          </a:prstGeom>
          <a:noFill/>
        </p:spPr>
        <p:txBody>
          <a:bodyPr wrap="square">
            <a:spAutoFit/>
          </a:bodyPr>
          <a:lstStyle/>
          <a:p>
            <a:pPr algn="l"/>
            <a:r>
              <a:rPr sz="1500" b="1" i="0">
                <a:solidFill>
                  <a:srgbClr val="19462B"/>
                </a:solidFill>
                <a:latin typeface="Trebuchet MS"/>
              </a:rPr>
              <a:t>Lambda</a:t>
            </a:r>
          </a:p>
        </p:txBody>
      </p:sp>
      <p:sp>
        <p:nvSpPr>
          <p:cNvPr id="13" name="TextBox 12"/>
          <p:cNvSpPr txBox="1"/>
          <p:nvPr/>
        </p:nvSpPr>
        <p:spPr>
          <a:xfrm>
            <a:off x="2743200" y="3483864"/>
            <a:ext cx="8595360" cy="457200"/>
          </a:xfrm>
          <a:prstGeom prst="rect">
            <a:avLst/>
          </a:prstGeom>
          <a:noFill/>
        </p:spPr>
        <p:txBody>
          <a:bodyPr wrap="square">
            <a:spAutoFit/>
          </a:bodyPr>
          <a:lstStyle/>
          <a:p>
            <a:pPr algn="l"/>
            <a:r>
              <a:rPr sz="1400" b="0" i="0">
                <a:solidFill>
                  <a:srgbClr val="1D2A21"/>
                </a:solidFill>
                <a:latin typeface="Trebuchet MS"/>
              </a:rPr>
              <a:t>The helpers. Small programs that wake up, do one job, and go back to sleep.</a:t>
            </a:r>
          </a:p>
        </p:txBody>
      </p:sp>
      <p:sp>
        <p:nvSpPr>
          <p:cNvPr id="14" name="TextBox 13"/>
          <p:cNvSpPr txBox="1"/>
          <p:nvPr/>
        </p:nvSpPr>
        <p:spPr>
          <a:xfrm>
            <a:off x="777240" y="4050791"/>
            <a:ext cx="1920240" cy="457200"/>
          </a:xfrm>
          <a:prstGeom prst="rect">
            <a:avLst/>
          </a:prstGeom>
          <a:noFill/>
        </p:spPr>
        <p:txBody>
          <a:bodyPr wrap="square">
            <a:spAutoFit/>
          </a:bodyPr>
          <a:lstStyle/>
          <a:p>
            <a:pPr algn="l"/>
            <a:r>
              <a:rPr sz="1500" b="1" i="0">
                <a:solidFill>
                  <a:srgbClr val="19462B"/>
                </a:solidFill>
                <a:latin typeface="Trebuchet MS"/>
              </a:rPr>
              <a:t>DynamoDB</a:t>
            </a:r>
          </a:p>
        </p:txBody>
      </p:sp>
      <p:sp>
        <p:nvSpPr>
          <p:cNvPr id="15" name="TextBox 14"/>
          <p:cNvSpPr txBox="1"/>
          <p:nvPr/>
        </p:nvSpPr>
        <p:spPr>
          <a:xfrm>
            <a:off x="2743200" y="4050791"/>
            <a:ext cx="8595360" cy="457200"/>
          </a:xfrm>
          <a:prstGeom prst="rect">
            <a:avLst/>
          </a:prstGeom>
          <a:noFill/>
        </p:spPr>
        <p:txBody>
          <a:bodyPr wrap="square">
            <a:spAutoFit/>
          </a:bodyPr>
          <a:lstStyle/>
          <a:p>
            <a:pPr algn="l"/>
            <a:r>
              <a:rPr sz="1400" b="0" i="0">
                <a:solidFill>
                  <a:srgbClr val="1D2A21"/>
                </a:solidFill>
                <a:latin typeface="Trebuchet MS"/>
              </a:rPr>
              <a:t>The ledger. Members, messages, Firewise groups, board roster.</a:t>
            </a:r>
          </a:p>
        </p:txBody>
      </p:sp>
      <p:sp>
        <p:nvSpPr>
          <p:cNvPr id="16" name="TextBox 15"/>
          <p:cNvSpPr txBox="1"/>
          <p:nvPr/>
        </p:nvSpPr>
        <p:spPr>
          <a:xfrm>
            <a:off x="777240" y="4617720"/>
            <a:ext cx="1920240" cy="457200"/>
          </a:xfrm>
          <a:prstGeom prst="rect">
            <a:avLst/>
          </a:prstGeom>
          <a:noFill/>
        </p:spPr>
        <p:txBody>
          <a:bodyPr wrap="square">
            <a:spAutoFit/>
          </a:bodyPr>
          <a:lstStyle/>
          <a:p>
            <a:pPr algn="l"/>
            <a:r>
              <a:rPr sz="1500" b="1" i="0">
                <a:solidFill>
                  <a:srgbClr val="19462B"/>
                </a:solidFill>
                <a:latin typeface="Trebuchet MS"/>
              </a:rPr>
              <a:t>Cognito</a:t>
            </a:r>
          </a:p>
        </p:txBody>
      </p:sp>
      <p:sp>
        <p:nvSpPr>
          <p:cNvPr id="17" name="TextBox 16"/>
          <p:cNvSpPr txBox="1"/>
          <p:nvPr/>
        </p:nvSpPr>
        <p:spPr>
          <a:xfrm>
            <a:off x="2743200" y="4617720"/>
            <a:ext cx="8595360" cy="457200"/>
          </a:xfrm>
          <a:prstGeom prst="rect">
            <a:avLst/>
          </a:prstGeom>
          <a:noFill/>
        </p:spPr>
        <p:txBody>
          <a:bodyPr wrap="square">
            <a:spAutoFit/>
          </a:bodyPr>
          <a:lstStyle/>
          <a:p>
            <a:pPr algn="l"/>
            <a:r>
              <a:rPr sz="1400" b="0" i="0">
                <a:solidFill>
                  <a:srgbClr val="1D2A21"/>
                </a:solidFill>
                <a:latin typeface="Trebuchet MS"/>
              </a:rPr>
              <a:t>The doorman. Decides who is allowed to sign in to the admin area.</a:t>
            </a:r>
          </a:p>
        </p:txBody>
      </p:sp>
      <p:sp>
        <p:nvSpPr>
          <p:cNvPr id="18" name="TextBox 17"/>
          <p:cNvSpPr txBox="1"/>
          <p:nvPr/>
        </p:nvSpPr>
        <p:spPr>
          <a:xfrm>
            <a:off x="777240" y="5184648"/>
            <a:ext cx="1920240" cy="457200"/>
          </a:xfrm>
          <a:prstGeom prst="rect">
            <a:avLst/>
          </a:prstGeom>
          <a:noFill/>
        </p:spPr>
        <p:txBody>
          <a:bodyPr wrap="square">
            <a:spAutoFit/>
          </a:bodyPr>
          <a:lstStyle/>
          <a:p>
            <a:pPr algn="l"/>
            <a:r>
              <a:rPr sz="1500" b="1" i="0">
                <a:solidFill>
                  <a:srgbClr val="19462B"/>
                </a:solidFill>
                <a:latin typeface="Trebuchet MS"/>
              </a:rPr>
              <a:t>GitHub</a:t>
            </a:r>
          </a:p>
        </p:txBody>
      </p:sp>
      <p:sp>
        <p:nvSpPr>
          <p:cNvPr id="19" name="TextBox 18"/>
          <p:cNvSpPr txBox="1"/>
          <p:nvPr/>
        </p:nvSpPr>
        <p:spPr>
          <a:xfrm>
            <a:off x="2743200" y="5184648"/>
            <a:ext cx="8595360" cy="457200"/>
          </a:xfrm>
          <a:prstGeom prst="rect">
            <a:avLst/>
          </a:prstGeom>
          <a:noFill/>
        </p:spPr>
        <p:txBody>
          <a:bodyPr wrap="square">
            <a:spAutoFit/>
          </a:bodyPr>
          <a:lstStyle/>
          <a:p>
            <a:pPr algn="l"/>
            <a:r>
              <a:rPr sz="1400" b="0" i="0">
                <a:solidFill>
                  <a:srgbClr val="1D2A21"/>
                </a:solidFill>
                <a:latin typeface="Trebuchet MS"/>
              </a:rPr>
              <a:t>The archive. Every version of the site, and who changed what, and when.</a:t>
            </a:r>
          </a:p>
        </p:txBody>
      </p:sp>
      <p:sp>
        <p:nvSpPr>
          <p:cNvPr id="20" name="TextBox 19"/>
          <p:cNvSpPr txBox="1"/>
          <p:nvPr/>
        </p:nvSpPr>
        <p:spPr>
          <a:xfrm>
            <a:off x="777240" y="5943600"/>
            <a:ext cx="10607040" cy="457200"/>
          </a:xfrm>
          <a:prstGeom prst="rect">
            <a:avLst/>
          </a:prstGeom>
          <a:noFill/>
        </p:spPr>
        <p:txBody>
          <a:bodyPr wrap="square">
            <a:spAutoFit/>
          </a:bodyPr>
          <a:lstStyle/>
          <a:p>
            <a:pPr algn="l"/>
            <a:r>
              <a:rPr sz="1300" b="0" i="0">
                <a:solidFill>
                  <a:srgbClr val="556666"/>
                </a:solidFill>
                <a:latin typeface="Trebuchet MS"/>
              </a:rPr>
              <a:t>The first six are Amazon services. We pay for what we use, and at our size that is very little.</a:t>
            </a:r>
          </a:p>
        </p:txBody>
      </p:sp>
      <p:sp>
        <p:nvSpPr>
          <p:cNvPr id="21" name="TextBox 20"/>
          <p:cNvSpPr txBox="1"/>
          <p:nvPr/>
        </p:nvSpPr>
        <p:spPr>
          <a:xfrm>
            <a:off x="777240" y="6355080"/>
            <a:ext cx="7315200" cy="320040"/>
          </a:xfrm>
          <a:prstGeom prst="rect">
            <a:avLst/>
          </a:prstGeom>
          <a:noFill/>
        </p:spPr>
        <p:txBody>
          <a:bodyPr wrap="square">
            <a:spAutoFit/>
          </a:bodyPr>
          <a:lstStyle/>
          <a:p>
            <a:pPr algn="l"/>
            <a:r>
              <a:rPr sz="1000" b="0" i="0">
                <a:solidFill>
                  <a:srgbClr val="556666"/>
                </a:solidFill>
                <a:latin typeface="Trebuchet MS"/>
              </a:rPr>
              <a:t>Austin Area Firewise Alliance</a:t>
            </a:r>
          </a:p>
        </p:txBody>
      </p:sp>
      <p:sp>
        <p:nvSpPr>
          <p:cNvPr id="22" name="TextBox 21"/>
          <p:cNvSpPr txBox="1"/>
          <p:nvPr/>
        </p:nvSpPr>
        <p:spPr>
          <a:xfrm>
            <a:off x="10058400" y="6355080"/>
            <a:ext cx="1371600" cy="320040"/>
          </a:xfrm>
          <a:prstGeom prst="rect">
            <a:avLst/>
          </a:prstGeom>
          <a:noFill/>
        </p:spPr>
        <p:txBody>
          <a:bodyPr wrap="square">
            <a:spAutoFit/>
          </a:bodyPr>
          <a:lstStyle/>
          <a:p>
            <a:pPr algn="r"/>
            <a:r>
              <a:rPr sz="1000" b="0" i="0">
                <a:solidFill>
                  <a:srgbClr val="556666"/>
                </a:solidFill>
                <a:latin typeface="Trebuchet M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607040" cy="365760"/>
          </a:xfrm>
          <a:prstGeom prst="rect">
            <a:avLst/>
          </a:prstGeom>
          <a:noFill/>
        </p:spPr>
        <p:txBody>
          <a:bodyPr wrap="square">
            <a:spAutoFit/>
          </a:bodyPr>
          <a:lstStyle/>
          <a:p>
            <a:pPr algn="l"/>
            <a:r>
              <a:rPr sz="1200" b="1" i="0">
                <a:solidFill>
                  <a:srgbClr val="4C784B"/>
                </a:solidFill>
                <a:latin typeface="Trebuchet MS"/>
              </a:rPr>
              <a:t>PIPELINE 1 OF 2</a:t>
            </a:r>
          </a:p>
        </p:txBody>
      </p:sp>
      <p:sp>
        <p:nvSpPr>
          <p:cNvPr id="4" name="TextBox 3"/>
          <p:cNvSpPr txBox="1"/>
          <p:nvPr/>
        </p:nvSpPr>
        <p:spPr>
          <a:xfrm>
            <a:off x="777240" y="749808"/>
            <a:ext cx="10607040" cy="914400"/>
          </a:xfrm>
          <a:prstGeom prst="rect">
            <a:avLst/>
          </a:prstGeom>
          <a:noFill/>
        </p:spPr>
        <p:txBody>
          <a:bodyPr wrap="square">
            <a:spAutoFit/>
          </a:bodyPr>
          <a:lstStyle/>
          <a:p>
            <a:pPr algn="l"/>
            <a:r>
              <a:rPr sz="3200" b="1" i="0">
                <a:solidFill>
                  <a:srgbClr val="19462B"/>
                </a:solidFill>
                <a:latin typeface="Trebuchet MS"/>
              </a:rPr>
              <a:t>How a change to the site itself is published</a:t>
            </a:r>
          </a:p>
        </p:txBody>
      </p:sp>
      <p:sp>
        <p:nvSpPr>
          <p:cNvPr id="5" name="Rectangle 4"/>
          <p:cNvSpPr/>
          <p:nvPr/>
        </p:nvSpPr>
        <p:spPr>
          <a:xfrm>
            <a:off x="777240" y="1463040"/>
            <a:ext cx="1371600" cy="50800"/>
          </a:xfrm>
          <a:prstGeom prst="rect">
            <a:avLst/>
          </a:prstGeom>
          <a:solidFill>
            <a:srgbClr val="DA7B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2286000"/>
            <a:ext cx="2286000" cy="914400"/>
          </a:xfrm>
          <a:prstGeom prst="roundRect">
            <a:avLst/>
          </a:prstGeom>
          <a:solidFill>
            <a:srgbClr val="FFFFFF"/>
          </a:solidFill>
          <a:ln w="22225">
            <a:solidFill>
              <a:srgbClr val="265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9462B"/>
                </a:solidFill>
                <a:latin typeface="Trebuchet MS"/>
              </a:rPr>
              <a:t>A change is made</a:t>
            </a:r>
          </a:p>
          <a:p>
            <a:pPr algn="ctr"/>
            <a:r>
              <a:rPr sz="1100" b="0" i="0">
                <a:solidFill>
                  <a:srgbClr val="556666"/>
                </a:solidFill>
                <a:latin typeface="Trebuchet MS"/>
              </a:rPr>
              <a:t>wording, a new page</a:t>
            </a:r>
          </a:p>
        </p:txBody>
      </p:sp>
      <p:cxnSp>
        <p:nvCxnSpPr>
          <p:cNvPr id="7" name="Connector 6"/>
          <p:cNvCxnSpPr/>
          <p:nvPr/>
        </p:nvCxnSpPr>
        <p:spPr>
          <a:xfrm>
            <a:off x="3154680" y="2743200"/>
            <a:ext cx="457200" cy="0"/>
          </a:xfrm>
          <a:prstGeom prst="line">
            <a:avLst/>
          </a:prstGeom>
          <a:ln w="31750">
            <a:solidFill>
              <a:srgbClr val="A855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657600" y="2286000"/>
            <a:ext cx="2286000" cy="914400"/>
          </a:xfrm>
          <a:prstGeom prst="roundRect">
            <a:avLst/>
          </a:prstGeom>
          <a:solidFill>
            <a:srgbClr val="FFFFFF"/>
          </a:solidFill>
          <a:ln w="22225">
            <a:solidFill>
              <a:srgbClr val="265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9462B"/>
                </a:solidFill>
                <a:latin typeface="Trebuchet MS"/>
              </a:rPr>
              <a:t>GitHub</a:t>
            </a:r>
          </a:p>
          <a:p>
            <a:pPr algn="ctr"/>
            <a:r>
              <a:rPr sz="1100" b="0" i="0">
                <a:solidFill>
                  <a:srgbClr val="556666"/>
                </a:solidFill>
                <a:latin typeface="Trebuchet MS"/>
              </a:rPr>
              <a:t>the archive</a:t>
            </a:r>
          </a:p>
        </p:txBody>
      </p:sp>
      <p:cxnSp>
        <p:nvCxnSpPr>
          <p:cNvPr id="9" name="Connector 8"/>
          <p:cNvCxnSpPr/>
          <p:nvPr/>
        </p:nvCxnSpPr>
        <p:spPr>
          <a:xfrm>
            <a:off x="6035040" y="2743200"/>
            <a:ext cx="457200" cy="0"/>
          </a:xfrm>
          <a:prstGeom prst="line">
            <a:avLst/>
          </a:prstGeom>
          <a:ln w="31750">
            <a:solidFill>
              <a:srgbClr val="A855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537960" y="2286000"/>
            <a:ext cx="2286000" cy="914400"/>
          </a:xfrm>
          <a:prstGeom prst="roundRect">
            <a:avLst/>
          </a:prstGeom>
          <a:solidFill>
            <a:srgbClr val="FFFFFF"/>
          </a:solidFill>
          <a:ln w="22225">
            <a:solidFill>
              <a:srgbClr val="265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9462B"/>
                </a:solidFill>
                <a:latin typeface="Trebuchet MS"/>
              </a:rPr>
              <a:t>Amplify rebuilds</a:t>
            </a:r>
          </a:p>
          <a:p>
            <a:pPr algn="ctr"/>
            <a:r>
              <a:rPr sz="1100" b="0" i="0">
                <a:solidFill>
                  <a:srgbClr val="556666"/>
                </a:solidFill>
                <a:latin typeface="Trebuchet MS"/>
              </a:rPr>
              <a:t>automatically</a:t>
            </a:r>
          </a:p>
        </p:txBody>
      </p:sp>
      <p:cxnSp>
        <p:nvCxnSpPr>
          <p:cNvPr id="11" name="Connector 10"/>
          <p:cNvCxnSpPr/>
          <p:nvPr/>
        </p:nvCxnSpPr>
        <p:spPr>
          <a:xfrm>
            <a:off x="8915400" y="2743200"/>
            <a:ext cx="457200" cy="0"/>
          </a:xfrm>
          <a:prstGeom prst="line">
            <a:avLst/>
          </a:prstGeom>
          <a:ln w="31750">
            <a:solidFill>
              <a:srgbClr val="A855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418320" y="2286000"/>
            <a:ext cx="1965960" cy="914400"/>
          </a:xfrm>
          <a:prstGeom prst="roundRect">
            <a:avLst/>
          </a:prstGeom>
          <a:solidFill>
            <a:srgbClr val="D7E0D9"/>
          </a:solidFill>
          <a:ln w="22225">
            <a:solidFill>
              <a:srgbClr val="265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9462B"/>
                </a:solidFill>
                <a:latin typeface="Trebuchet MS"/>
              </a:rPr>
              <a:t>Live</a:t>
            </a:r>
          </a:p>
          <a:p>
            <a:pPr algn="ctr"/>
            <a:r>
              <a:rPr sz="1100" b="0" i="0">
                <a:solidFill>
                  <a:srgbClr val="556666"/>
                </a:solidFill>
                <a:latin typeface="Trebuchet MS"/>
              </a:rPr>
              <a:t>about a minute</a:t>
            </a:r>
          </a:p>
        </p:txBody>
      </p:sp>
      <p:sp>
        <p:nvSpPr>
          <p:cNvPr id="13" name="TextBox 12"/>
          <p:cNvSpPr txBox="1"/>
          <p:nvPr/>
        </p:nvSpPr>
        <p:spPr>
          <a:xfrm>
            <a:off x="777240" y="3749039"/>
            <a:ext cx="10607040" cy="4114800"/>
          </a:xfrm>
          <a:prstGeom prst="rect">
            <a:avLst/>
          </a:prstGeom>
          <a:noFill/>
        </p:spPr>
        <p:txBody>
          <a:bodyPr wrap="square">
            <a:spAutoFit/>
          </a:bodyPr>
          <a:lstStyle/>
          <a:p>
            <a:pPr algn="l">
              <a:spcAft>
                <a:spcPts val="1200"/>
              </a:spcAft>
            </a:pPr>
            <a:r>
              <a:rPr sz="1600" b="1" i="0">
                <a:solidFill>
                  <a:srgbClr val="DA7B37"/>
                </a:solidFill>
                <a:latin typeface="Trebuchet MS"/>
              </a:rPr>
              <a:t>▪  </a:t>
            </a:r>
            <a:r>
              <a:rPr sz="1600" b="0" i="0">
                <a:solidFill>
                  <a:srgbClr val="1D2A21"/>
                </a:solidFill>
                <a:latin typeface="Trebuchet MS"/>
              </a:rPr>
              <a:t>Nobody uploads anything by hand, so nobody can forget a step or upload the wrong file.</a:t>
            </a:r>
          </a:p>
          <a:p>
            <a:pPr>
              <a:spcAft>
                <a:spcPts val="1200"/>
              </a:spcAft>
            </a:pPr>
            <a:r>
              <a:rPr sz="1600" b="1" i="0">
                <a:solidFill>
                  <a:srgbClr val="DA7B37"/>
                </a:solidFill>
                <a:latin typeface="Trebuchet MS"/>
              </a:rPr>
              <a:t>▪  </a:t>
            </a:r>
            <a:r>
              <a:rPr sz="1600" b="0" i="0">
                <a:solidFill>
                  <a:srgbClr val="1D2A21"/>
                </a:solidFill>
                <a:latin typeface="Trebuchet MS"/>
              </a:rPr>
              <a:t>Every version is kept, with a note of what changed and why. Any change can be undone.</a:t>
            </a:r>
          </a:p>
          <a:p>
            <a:pPr>
              <a:spcAft>
                <a:spcPts val="1200"/>
              </a:spcAft>
            </a:pPr>
            <a:r>
              <a:rPr sz="1600" b="1" i="0">
                <a:solidFill>
                  <a:srgbClr val="DA7B37"/>
                </a:solidFill>
                <a:latin typeface="Trebuchet MS"/>
              </a:rPr>
              <a:t>▪  </a:t>
            </a:r>
            <a:r>
              <a:rPr sz="1600" b="0" i="0">
                <a:solidFill>
                  <a:srgbClr val="1D2A21"/>
                </a:solidFill>
                <a:latin typeface="Trebuchet MS"/>
              </a:rPr>
              <a:t>This is the path for the site’s own design and wording — not for meeting notices and news.</a:t>
            </a:r>
          </a:p>
        </p:txBody>
      </p:sp>
      <p:sp>
        <p:nvSpPr>
          <p:cNvPr id="14" name="TextBox 13"/>
          <p:cNvSpPr txBox="1"/>
          <p:nvPr/>
        </p:nvSpPr>
        <p:spPr>
          <a:xfrm>
            <a:off x="777240" y="6355080"/>
            <a:ext cx="7315200" cy="320040"/>
          </a:xfrm>
          <a:prstGeom prst="rect">
            <a:avLst/>
          </a:prstGeom>
          <a:noFill/>
        </p:spPr>
        <p:txBody>
          <a:bodyPr wrap="square">
            <a:spAutoFit/>
          </a:bodyPr>
          <a:lstStyle/>
          <a:p>
            <a:pPr algn="l"/>
            <a:r>
              <a:rPr sz="1000" b="0" i="0">
                <a:solidFill>
                  <a:srgbClr val="556666"/>
                </a:solidFill>
                <a:latin typeface="Trebuchet MS"/>
              </a:rPr>
              <a:t>Austin Area Firewise Alliance</a:t>
            </a:r>
          </a:p>
        </p:txBody>
      </p:sp>
      <p:sp>
        <p:nvSpPr>
          <p:cNvPr id="15" name="TextBox 14"/>
          <p:cNvSpPr txBox="1"/>
          <p:nvPr/>
        </p:nvSpPr>
        <p:spPr>
          <a:xfrm>
            <a:off x="10058400" y="6355080"/>
            <a:ext cx="1371600" cy="320040"/>
          </a:xfrm>
          <a:prstGeom prst="rect">
            <a:avLst/>
          </a:prstGeom>
          <a:noFill/>
        </p:spPr>
        <p:txBody>
          <a:bodyPr wrap="square">
            <a:spAutoFit/>
          </a:bodyPr>
          <a:lstStyle/>
          <a:p>
            <a:pPr algn="r"/>
            <a:r>
              <a:rPr sz="1000" b="0" i="0">
                <a:solidFill>
                  <a:srgbClr val="556666"/>
                </a:solidFill>
                <a:latin typeface="Trebuchet M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607040" cy="365760"/>
          </a:xfrm>
          <a:prstGeom prst="rect">
            <a:avLst/>
          </a:prstGeom>
          <a:noFill/>
        </p:spPr>
        <p:txBody>
          <a:bodyPr wrap="square">
            <a:spAutoFit/>
          </a:bodyPr>
          <a:lstStyle/>
          <a:p>
            <a:pPr algn="l"/>
            <a:r>
              <a:rPr sz="1200" b="1" i="0">
                <a:solidFill>
                  <a:srgbClr val="4C784B"/>
                </a:solidFill>
                <a:latin typeface="Trebuchet MS"/>
              </a:rPr>
              <a:t>PIPELINE 2 OF 2</a:t>
            </a:r>
          </a:p>
        </p:txBody>
      </p:sp>
      <p:sp>
        <p:nvSpPr>
          <p:cNvPr id="4" name="TextBox 3"/>
          <p:cNvSpPr txBox="1"/>
          <p:nvPr/>
        </p:nvSpPr>
        <p:spPr>
          <a:xfrm>
            <a:off x="777240" y="749808"/>
            <a:ext cx="10607040" cy="914400"/>
          </a:xfrm>
          <a:prstGeom prst="rect">
            <a:avLst/>
          </a:prstGeom>
          <a:noFill/>
        </p:spPr>
        <p:txBody>
          <a:bodyPr wrap="square">
            <a:spAutoFit/>
          </a:bodyPr>
          <a:lstStyle/>
          <a:p>
            <a:pPr algn="l"/>
            <a:r>
              <a:rPr sz="3200" b="1" i="0">
                <a:solidFill>
                  <a:srgbClr val="19462B"/>
                </a:solidFill>
                <a:latin typeface="Trebuchet MS"/>
              </a:rPr>
              <a:t>How the board’s own content is published</a:t>
            </a:r>
          </a:p>
        </p:txBody>
      </p:sp>
      <p:sp>
        <p:nvSpPr>
          <p:cNvPr id="5" name="Rectangle 4"/>
          <p:cNvSpPr/>
          <p:nvPr/>
        </p:nvSpPr>
        <p:spPr>
          <a:xfrm>
            <a:off x="777240" y="1463040"/>
            <a:ext cx="1371600" cy="50800"/>
          </a:xfrm>
          <a:prstGeom prst="rect">
            <a:avLst/>
          </a:prstGeom>
          <a:solidFill>
            <a:srgbClr val="DA7B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2286000"/>
            <a:ext cx="2103120" cy="914400"/>
          </a:xfrm>
          <a:prstGeom prst="roundRect">
            <a:avLst/>
          </a:prstGeom>
          <a:solidFill>
            <a:srgbClr val="FFFFFF"/>
          </a:solidFill>
          <a:ln w="22225">
            <a:solidFill>
              <a:srgbClr val="265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9462B"/>
                </a:solidFill>
                <a:latin typeface="Trebuchet MS"/>
              </a:rPr>
              <a:t>Write it</a:t>
            </a:r>
          </a:p>
          <a:p>
            <a:pPr algn="ctr"/>
            <a:r>
              <a:rPr sz="1100" b="0" i="0">
                <a:solidFill>
                  <a:srgbClr val="556666"/>
                </a:solidFill>
                <a:latin typeface="Trebuchet MS"/>
              </a:rPr>
              <a:t>in the admin area</a:t>
            </a:r>
          </a:p>
        </p:txBody>
      </p:sp>
      <p:cxnSp>
        <p:nvCxnSpPr>
          <p:cNvPr id="7" name="Connector 6"/>
          <p:cNvCxnSpPr/>
          <p:nvPr/>
        </p:nvCxnSpPr>
        <p:spPr>
          <a:xfrm>
            <a:off x="2971800" y="2743200"/>
            <a:ext cx="365760" cy="0"/>
          </a:xfrm>
          <a:prstGeom prst="line">
            <a:avLst/>
          </a:prstGeom>
          <a:ln w="31750">
            <a:solidFill>
              <a:srgbClr val="A855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83280" y="2286000"/>
            <a:ext cx="2103120" cy="914400"/>
          </a:xfrm>
          <a:prstGeom prst="roundRect">
            <a:avLst/>
          </a:prstGeom>
          <a:solidFill>
            <a:srgbClr val="FFFFFF"/>
          </a:solidFill>
          <a:ln w="22225">
            <a:solidFill>
              <a:srgbClr val="265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9462B"/>
                </a:solidFill>
                <a:latin typeface="Trebuchet MS"/>
              </a:rPr>
              <a:t>Checked</a:t>
            </a:r>
          </a:p>
          <a:p>
            <a:pPr algn="ctr"/>
            <a:r>
              <a:rPr sz="1100" b="0" i="0">
                <a:solidFill>
                  <a:srgbClr val="556666"/>
                </a:solidFill>
                <a:latin typeface="Trebuchet MS"/>
              </a:rPr>
              <a:t>title, dates, links</a:t>
            </a:r>
          </a:p>
        </p:txBody>
      </p:sp>
      <p:cxnSp>
        <p:nvCxnSpPr>
          <p:cNvPr id="9" name="Connector 8"/>
          <p:cNvCxnSpPr/>
          <p:nvPr/>
        </p:nvCxnSpPr>
        <p:spPr>
          <a:xfrm>
            <a:off x="5577840" y="2743200"/>
            <a:ext cx="365760" cy="0"/>
          </a:xfrm>
          <a:prstGeom prst="line">
            <a:avLst/>
          </a:prstGeom>
          <a:ln w="31750">
            <a:solidFill>
              <a:srgbClr val="A855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989320" y="2286000"/>
            <a:ext cx="2103120" cy="914400"/>
          </a:xfrm>
          <a:prstGeom prst="roundRect">
            <a:avLst/>
          </a:prstGeom>
          <a:solidFill>
            <a:srgbClr val="FFFFFF"/>
          </a:solidFill>
          <a:ln w="22225">
            <a:solidFill>
              <a:srgbClr val="265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9462B"/>
                </a:solidFill>
                <a:latin typeface="Trebuchet MS"/>
              </a:rPr>
              <a:t>Filed</a:t>
            </a:r>
          </a:p>
          <a:p>
            <a:pPr algn="ctr"/>
            <a:r>
              <a:rPr sz="1100" b="0" i="0">
                <a:solidFill>
                  <a:srgbClr val="556666"/>
                </a:solidFill>
                <a:latin typeface="Trebuchet MS"/>
              </a:rPr>
              <a:t>in the ledger</a:t>
            </a:r>
          </a:p>
        </p:txBody>
      </p:sp>
      <p:cxnSp>
        <p:nvCxnSpPr>
          <p:cNvPr id="11" name="Connector 10"/>
          <p:cNvCxnSpPr/>
          <p:nvPr/>
        </p:nvCxnSpPr>
        <p:spPr>
          <a:xfrm>
            <a:off x="8183879" y="2743200"/>
            <a:ext cx="365761" cy="0"/>
          </a:xfrm>
          <a:prstGeom prst="line">
            <a:avLst/>
          </a:prstGeom>
          <a:ln w="31750">
            <a:solidFill>
              <a:srgbClr val="A855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595360" y="2286000"/>
            <a:ext cx="2788920" cy="914400"/>
          </a:xfrm>
          <a:prstGeom prst="roundRect">
            <a:avLst/>
          </a:prstGeom>
          <a:solidFill>
            <a:srgbClr val="D7E0D9"/>
          </a:solidFill>
          <a:ln w="22225">
            <a:solidFill>
              <a:srgbClr val="26543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9462B"/>
                </a:solidFill>
                <a:latin typeface="Trebuchet MS"/>
              </a:rPr>
              <a:t>One public file rewritten</a:t>
            </a:r>
          </a:p>
          <a:p>
            <a:pPr algn="ctr"/>
            <a:r>
              <a:rPr sz="1100" b="0" i="0">
                <a:solidFill>
                  <a:srgbClr val="556666"/>
                </a:solidFill>
                <a:latin typeface="Trebuchet MS"/>
              </a:rPr>
              <a:t>visible within a minute</a:t>
            </a:r>
          </a:p>
        </p:txBody>
      </p:sp>
      <p:sp>
        <p:nvSpPr>
          <p:cNvPr id="13" name="TextBox 12"/>
          <p:cNvSpPr txBox="1"/>
          <p:nvPr/>
        </p:nvSpPr>
        <p:spPr>
          <a:xfrm>
            <a:off x="777240" y="3749039"/>
            <a:ext cx="10607040" cy="4114800"/>
          </a:xfrm>
          <a:prstGeom prst="rect">
            <a:avLst/>
          </a:prstGeom>
          <a:noFill/>
        </p:spPr>
        <p:txBody>
          <a:bodyPr wrap="square">
            <a:spAutoFit/>
          </a:bodyPr>
          <a:lstStyle/>
          <a:p>
            <a:pPr algn="l">
              <a:spcAft>
                <a:spcPts val="1200"/>
              </a:spcAft>
            </a:pPr>
            <a:r>
              <a:rPr sz="1600" b="1" i="0">
                <a:solidFill>
                  <a:srgbClr val="DA7B37"/>
                </a:solidFill>
                <a:latin typeface="Trebuchet MS"/>
              </a:rPr>
              <a:t>▪  </a:t>
            </a:r>
            <a:r>
              <a:rPr sz="1600" b="0" i="0">
                <a:solidFill>
                  <a:srgbClr val="1D2A21"/>
                </a:solidFill>
                <a:latin typeface="Trebuchet MS"/>
              </a:rPr>
              <a:t>Drafts never leave the locked side. Only publishing puts anything in front of a visitor.</a:t>
            </a:r>
          </a:p>
          <a:p>
            <a:pPr>
              <a:spcAft>
                <a:spcPts val="1200"/>
              </a:spcAft>
            </a:pPr>
            <a:r>
              <a:rPr sz="1600" b="1" i="0">
                <a:solidFill>
                  <a:srgbClr val="DA7B37"/>
                </a:solidFill>
                <a:latin typeface="Trebuchet MS"/>
              </a:rPr>
              <a:t>▪  </a:t>
            </a:r>
            <a:r>
              <a:rPr sz="1600" b="0" i="0">
                <a:solidFill>
                  <a:srgbClr val="1D2A21"/>
                </a:solidFill>
                <a:latin typeface="Trebuchet MS"/>
              </a:rPr>
              <a:t>Start and stop dates are part of every item, so a notice appears and disappears on its own. Nobody has to remember to take it down.</a:t>
            </a:r>
          </a:p>
          <a:p>
            <a:pPr>
              <a:spcAft>
                <a:spcPts val="1200"/>
              </a:spcAft>
            </a:pPr>
            <a:r>
              <a:rPr sz="1600" b="1" i="0">
                <a:solidFill>
                  <a:srgbClr val="DA7B37"/>
                </a:solidFill>
                <a:latin typeface="Trebuchet MS"/>
              </a:rPr>
              <a:t>▪  </a:t>
            </a:r>
            <a:r>
              <a:rPr sz="1600" b="0" i="0">
                <a:solidFill>
                  <a:srgbClr val="1D2A21"/>
                </a:solidFill>
                <a:latin typeface="Trebuchet MS"/>
              </a:rPr>
              <a:t>Because scheduled items sit in the public file before they go live, nothing confidential should ever be typed into this system.</a:t>
            </a:r>
          </a:p>
        </p:txBody>
      </p:sp>
      <p:sp>
        <p:nvSpPr>
          <p:cNvPr id="14" name="TextBox 13"/>
          <p:cNvSpPr txBox="1"/>
          <p:nvPr/>
        </p:nvSpPr>
        <p:spPr>
          <a:xfrm>
            <a:off x="777240" y="6355080"/>
            <a:ext cx="7315200" cy="320040"/>
          </a:xfrm>
          <a:prstGeom prst="rect">
            <a:avLst/>
          </a:prstGeom>
          <a:noFill/>
        </p:spPr>
        <p:txBody>
          <a:bodyPr wrap="square">
            <a:spAutoFit/>
          </a:bodyPr>
          <a:lstStyle/>
          <a:p>
            <a:pPr algn="l"/>
            <a:r>
              <a:rPr sz="1000" b="0" i="0">
                <a:solidFill>
                  <a:srgbClr val="556666"/>
                </a:solidFill>
                <a:latin typeface="Trebuchet MS"/>
              </a:rPr>
              <a:t>Austin Area Firewise Alliance</a:t>
            </a:r>
          </a:p>
        </p:txBody>
      </p:sp>
      <p:sp>
        <p:nvSpPr>
          <p:cNvPr id="15" name="TextBox 14"/>
          <p:cNvSpPr txBox="1"/>
          <p:nvPr/>
        </p:nvSpPr>
        <p:spPr>
          <a:xfrm>
            <a:off x="10058400" y="6355080"/>
            <a:ext cx="1371600" cy="320040"/>
          </a:xfrm>
          <a:prstGeom prst="rect">
            <a:avLst/>
          </a:prstGeom>
          <a:noFill/>
        </p:spPr>
        <p:txBody>
          <a:bodyPr wrap="square">
            <a:spAutoFit/>
          </a:bodyPr>
          <a:lstStyle/>
          <a:p>
            <a:pPr algn="r"/>
            <a:r>
              <a:rPr sz="1000" b="0" i="0">
                <a:solidFill>
                  <a:srgbClr val="556666"/>
                </a:solidFill>
                <a:latin typeface="Trebuchet M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607040" cy="365760"/>
          </a:xfrm>
          <a:prstGeom prst="rect">
            <a:avLst/>
          </a:prstGeom>
          <a:noFill/>
        </p:spPr>
        <p:txBody>
          <a:bodyPr wrap="square">
            <a:spAutoFit/>
          </a:bodyPr>
          <a:lstStyle/>
          <a:p>
            <a:pPr algn="l"/>
            <a:r>
              <a:rPr sz="1200" b="1" i="0">
                <a:solidFill>
                  <a:srgbClr val="4C784B"/>
                </a:solidFill>
                <a:latin typeface="Trebuchet MS"/>
              </a:rPr>
              <a:t>LAMBDA</a:t>
            </a:r>
          </a:p>
        </p:txBody>
      </p:sp>
      <p:sp>
        <p:nvSpPr>
          <p:cNvPr id="4" name="TextBox 3"/>
          <p:cNvSpPr txBox="1"/>
          <p:nvPr/>
        </p:nvSpPr>
        <p:spPr>
          <a:xfrm>
            <a:off x="777240" y="749808"/>
            <a:ext cx="10607040" cy="914400"/>
          </a:xfrm>
          <a:prstGeom prst="rect">
            <a:avLst/>
          </a:prstGeom>
          <a:noFill/>
        </p:spPr>
        <p:txBody>
          <a:bodyPr wrap="square">
            <a:spAutoFit/>
          </a:bodyPr>
          <a:lstStyle/>
          <a:p>
            <a:pPr algn="l"/>
            <a:r>
              <a:rPr sz="3200" b="1" i="0">
                <a:solidFill>
                  <a:srgbClr val="19462B"/>
                </a:solidFill>
                <a:latin typeface="Trebuchet MS"/>
              </a:rPr>
              <a:t>The helpers that run on their own</a:t>
            </a:r>
          </a:p>
        </p:txBody>
      </p:sp>
      <p:sp>
        <p:nvSpPr>
          <p:cNvPr id="5" name="Rectangle 4"/>
          <p:cNvSpPr/>
          <p:nvPr/>
        </p:nvSpPr>
        <p:spPr>
          <a:xfrm>
            <a:off x="777240" y="1463040"/>
            <a:ext cx="1371600" cy="50800"/>
          </a:xfrm>
          <a:prstGeom prst="rect">
            <a:avLst/>
          </a:prstGeom>
          <a:solidFill>
            <a:srgbClr val="DA7B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10607040" cy="4114800"/>
          </a:xfrm>
          <a:prstGeom prst="rect">
            <a:avLst/>
          </a:prstGeom>
          <a:noFill/>
        </p:spPr>
        <p:txBody>
          <a:bodyPr wrap="square">
            <a:spAutoFit/>
          </a:bodyPr>
          <a:lstStyle/>
          <a:p>
            <a:pPr algn="l">
              <a:spcAft>
                <a:spcPts val="1300"/>
              </a:spcAft>
            </a:pPr>
            <a:r>
              <a:rPr sz="1600" b="1" i="0">
                <a:solidFill>
                  <a:srgbClr val="DA7B37"/>
                </a:solidFill>
                <a:latin typeface="Trebuchet MS"/>
              </a:rPr>
              <a:t>▪  </a:t>
            </a:r>
            <a:r>
              <a:rPr sz="1600" b="1" i="0">
                <a:solidFill>
                  <a:srgbClr val="19462B"/>
                </a:solidFill>
                <a:latin typeface="Trebuchet MS"/>
              </a:rPr>
              <a:t>Burn ban watch.</a:t>
            </a:r>
            <a:r>
              <a:rPr sz="1600" b="0" i="0">
                <a:solidFill>
                  <a:srgbClr val="1D2A21"/>
                </a:solidFill>
                <a:latin typeface="Trebuchet MS"/>
              </a:rPr>
              <a:t>  Reads the Travis County Fire Marshal’s page every 30 minutes and updates the notice on the home page. If it cannot understand the page, it says nothing rather than saying the wrong thing.</a:t>
            </a:r>
          </a:p>
          <a:p>
            <a:pPr>
              <a:spcAft>
                <a:spcPts val="1300"/>
              </a:spcAft>
            </a:pPr>
            <a:r>
              <a:rPr sz="1600" b="1" i="0">
                <a:solidFill>
                  <a:srgbClr val="DA7B37"/>
                </a:solidFill>
                <a:latin typeface="Trebuchet MS"/>
              </a:rPr>
              <a:t>▪  </a:t>
            </a:r>
            <a:r>
              <a:rPr sz="1600" b="1" i="0">
                <a:solidFill>
                  <a:srgbClr val="19462B"/>
                </a:solidFill>
                <a:latin typeface="Trebuchet MS"/>
              </a:rPr>
              <a:t>Content.</a:t>
            </a:r>
            <a:r>
              <a:rPr sz="1600" b="0" i="0">
                <a:solidFill>
                  <a:srgbClr val="1D2A21"/>
                </a:solidFill>
                <a:latin typeface="Trebuchet MS"/>
              </a:rPr>
              <a:t>  Takes what a board member types, checks it, and files it.</a:t>
            </a:r>
          </a:p>
          <a:p>
            <a:pPr>
              <a:spcAft>
                <a:spcPts val="1300"/>
              </a:spcAft>
            </a:pPr>
            <a:r>
              <a:rPr sz="1600" b="1" i="0">
                <a:solidFill>
                  <a:srgbClr val="DA7B37"/>
                </a:solidFill>
                <a:latin typeface="Trebuchet MS"/>
              </a:rPr>
              <a:t>▪  </a:t>
            </a:r>
            <a:r>
              <a:rPr sz="1600" b="1" i="0">
                <a:solidFill>
                  <a:srgbClr val="19462B"/>
                </a:solidFill>
                <a:latin typeface="Trebuchet MS"/>
              </a:rPr>
              <a:t>Membership.</a:t>
            </a:r>
            <a:r>
              <a:rPr sz="1600" b="0" i="0">
                <a:solidFill>
                  <a:srgbClr val="1D2A21"/>
                </a:solidFill>
                <a:latin typeface="Trebuchet MS"/>
              </a:rPr>
              <a:t>  Handles sign-ups, confirmations, unsubscribes and STOP replies.</a:t>
            </a:r>
          </a:p>
          <a:p>
            <a:pPr>
              <a:spcAft>
                <a:spcPts val="1300"/>
              </a:spcAft>
            </a:pPr>
            <a:r>
              <a:rPr sz="1600" b="1" i="0">
                <a:solidFill>
                  <a:srgbClr val="DA7B37"/>
                </a:solidFill>
                <a:latin typeface="Trebuchet MS"/>
              </a:rPr>
              <a:t>▪  </a:t>
            </a:r>
            <a:r>
              <a:rPr sz="1600" b="1" i="0">
                <a:solidFill>
                  <a:srgbClr val="19462B"/>
                </a:solidFill>
                <a:latin typeface="Trebuchet MS"/>
              </a:rPr>
              <a:t>Sending.</a:t>
            </a:r>
            <a:r>
              <a:rPr sz="1600" b="0" i="0">
                <a:solidFill>
                  <a:srgbClr val="1D2A21"/>
                </a:solidFill>
                <a:latin typeface="Trebuchet MS"/>
              </a:rPr>
              <a:t>  Sends the approved emails and texts, one by one, without sending anything twice.</a:t>
            </a:r>
          </a:p>
          <a:p>
            <a:pPr>
              <a:spcAft>
                <a:spcPts val="1300"/>
              </a:spcAft>
            </a:pPr>
            <a:r>
              <a:rPr sz="1600" b="1" i="0">
                <a:solidFill>
                  <a:srgbClr val="DA7B37"/>
                </a:solidFill>
                <a:latin typeface="Trebuchet MS"/>
              </a:rPr>
              <a:t>▪  </a:t>
            </a:r>
            <a:r>
              <a:rPr sz="1600" b="1" i="0">
                <a:solidFill>
                  <a:srgbClr val="19462B"/>
                </a:solidFill>
                <a:latin typeface="Trebuchet MS"/>
              </a:rPr>
              <a:t>Housekeeping, every five minutes.</a:t>
            </a:r>
            <a:r>
              <a:rPr sz="1600" b="0" i="0">
                <a:solidFill>
                  <a:srgbClr val="1D2A21"/>
                </a:solidFill>
                <a:latin typeface="Trebuchet MS"/>
              </a:rPr>
              <a:t>  Sends anything scheduled, and clears out sign-ups that were never confirmed.</a:t>
            </a:r>
          </a:p>
        </p:txBody>
      </p:sp>
      <p:sp>
        <p:nvSpPr>
          <p:cNvPr id="7" name="Rounded Rectangle 6"/>
          <p:cNvSpPr/>
          <p:nvPr/>
        </p:nvSpPr>
        <p:spPr>
          <a:xfrm>
            <a:off x="777240" y="5486400"/>
            <a:ext cx="10607040" cy="777240"/>
          </a:xfrm>
          <a:prstGeom prst="roundRect">
            <a:avLst/>
          </a:prstGeom>
          <a:solidFill>
            <a:srgbClr val="D7E0D9"/>
          </a:solidFill>
          <a:ln w="12700">
            <a:solidFill>
              <a:srgbClr val="4C784B"/>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0" i="0">
                <a:solidFill>
                  <a:srgbClr val="19462B"/>
                </a:solidFill>
                <a:latin typeface="Trebuchet MS"/>
              </a:rPr>
              <a:t>Five small programs. They cost nothing while asleep, which is almost all of the time.</a:t>
            </a:r>
          </a:p>
        </p:txBody>
      </p:sp>
      <p:sp>
        <p:nvSpPr>
          <p:cNvPr id="8" name="TextBox 7"/>
          <p:cNvSpPr txBox="1"/>
          <p:nvPr/>
        </p:nvSpPr>
        <p:spPr>
          <a:xfrm>
            <a:off x="777240" y="6355080"/>
            <a:ext cx="7315200" cy="320040"/>
          </a:xfrm>
          <a:prstGeom prst="rect">
            <a:avLst/>
          </a:prstGeom>
          <a:noFill/>
        </p:spPr>
        <p:txBody>
          <a:bodyPr wrap="square">
            <a:spAutoFit/>
          </a:bodyPr>
          <a:lstStyle/>
          <a:p>
            <a:pPr algn="l"/>
            <a:r>
              <a:rPr sz="1000" b="0" i="0">
                <a:solidFill>
                  <a:srgbClr val="556666"/>
                </a:solidFill>
                <a:latin typeface="Trebuchet MS"/>
              </a:rPr>
              <a:t>Austin Area Firewise Alliance</a:t>
            </a:r>
          </a:p>
        </p:txBody>
      </p:sp>
      <p:sp>
        <p:nvSpPr>
          <p:cNvPr id="9" name="TextBox 8"/>
          <p:cNvSpPr txBox="1"/>
          <p:nvPr/>
        </p:nvSpPr>
        <p:spPr>
          <a:xfrm>
            <a:off x="10058400" y="6355080"/>
            <a:ext cx="1371600" cy="320040"/>
          </a:xfrm>
          <a:prstGeom prst="rect">
            <a:avLst/>
          </a:prstGeom>
          <a:noFill/>
        </p:spPr>
        <p:txBody>
          <a:bodyPr wrap="square">
            <a:spAutoFit/>
          </a:bodyPr>
          <a:lstStyle/>
          <a:p>
            <a:pPr algn="r"/>
            <a:r>
              <a:rPr sz="1000" b="0" i="0">
                <a:solidFill>
                  <a:srgbClr val="556666"/>
                </a:solidFill>
                <a:latin typeface="Trebuchet M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607040" cy="365760"/>
          </a:xfrm>
          <a:prstGeom prst="rect">
            <a:avLst/>
          </a:prstGeom>
          <a:noFill/>
        </p:spPr>
        <p:txBody>
          <a:bodyPr wrap="square">
            <a:spAutoFit/>
          </a:bodyPr>
          <a:lstStyle/>
          <a:p>
            <a:pPr algn="l"/>
            <a:r>
              <a:rPr sz="1200" b="1" i="0">
                <a:solidFill>
                  <a:srgbClr val="4C784B"/>
                </a:solidFill>
                <a:latin typeface="Trebuchet MS"/>
              </a:rPr>
              <a:t>ACCESS</a:t>
            </a:r>
          </a:p>
        </p:txBody>
      </p:sp>
      <p:sp>
        <p:nvSpPr>
          <p:cNvPr id="4" name="TextBox 3"/>
          <p:cNvSpPr txBox="1"/>
          <p:nvPr/>
        </p:nvSpPr>
        <p:spPr>
          <a:xfrm>
            <a:off x="777240" y="749808"/>
            <a:ext cx="10607040" cy="914400"/>
          </a:xfrm>
          <a:prstGeom prst="rect">
            <a:avLst/>
          </a:prstGeom>
          <a:noFill/>
        </p:spPr>
        <p:txBody>
          <a:bodyPr wrap="square">
            <a:spAutoFit/>
          </a:bodyPr>
          <a:lstStyle/>
          <a:p>
            <a:pPr algn="l"/>
            <a:r>
              <a:rPr sz="3200" b="1" i="0">
                <a:solidFill>
                  <a:srgbClr val="19462B"/>
                </a:solidFill>
                <a:latin typeface="Trebuchet MS"/>
              </a:rPr>
              <a:t>Who can get in</a:t>
            </a:r>
          </a:p>
        </p:txBody>
      </p:sp>
      <p:sp>
        <p:nvSpPr>
          <p:cNvPr id="5" name="Rectangle 4"/>
          <p:cNvSpPr/>
          <p:nvPr/>
        </p:nvSpPr>
        <p:spPr>
          <a:xfrm>
            <a:off x="777240" y="1463040"/>
            <a:ext cx="1371600" cy="50800"/>
          </a:xfrm>
          <a:prstGeom prst="rect">
            <a:avLst/>
          </a:prstGeom>
          <a:solidFill>
            <a:srgbClr val="DA7B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11680"/>
            <a:ext cx="10607040" cy="4114800"/>
          </a:xfrm>
          <a:prstGeom prst="rect">
            <a:avLst/>
          </a:prstGeom>
          <a:noFill/>
        </p:spPr>
        <p:txBody>
          <a:bodyPr wrap="square">
            <a:spAutoFit/>
          </a:bodyPr>
          <a:lstStyle/>
          <a:p>
            <a:pPr algn="l">
              <a:spcAft>
                <a:spcPts val="1600"/>
              </a:spcAft>
            </a:pPr>
            <a:r>
              <a:rPr sz="1700" b="1" i="0">
                <a:solidFill>
                  <a:srgbClr val="DA7B37"/>
                </a:solidFill>
                <a:latin typeface="Trebuchet MS"/>
              </a:rPr>
              <a:t>▪  </a:t>
            </a:r>
            <a:r>
              <a:rPr sz="1700" b="0" i="0">
                <a:solidFill>
                  <a:srgbClr val="1D2A21"/>
                </a:solidFill>
                <a:latin typeface="Trebuchet MS"/>
              </a:rPr>
              <a:t>Only named board members, each with their own login. There is no shared password.</a:t>
            </a:r>
          </a:p>
          <a:p>
            <a:pPr>
              <a:spcAft>
                <a:spcPts val="1600"/>
              </a:spcAft>
            </a:pPr>
            <a:r>
              <a:rPr sz="1700" b="1" i="0">
                <a:solidFill>
                  <a:srgbClr val="DA7B37"/>
                </a:solidFill>
                <a:latin typeface="Trebuchet MS"/>
              </a:rPr>
              <a:t>▪  </a:t>
            </a:r>
            <a:r>
              <a:rPr sz="1700" b="1" i="0">
                <a:solidFill>
                  <a:srgbClr val="19462B"/>
                </a:solidFill>
                <a:latin typeface="Trebuchet MS"/>
              </a:rPr>
              <a:t>A login and a board record are separate.</a:t>
            </a:r>
            <a:r>
              <a:rPr sz="1700" b="0" i="0">
                <a:solidFill>
                  <a:srgbClr val="1D2A21"/>
                </a:solidFill>
                <a:latin typeface="Trebuchet MS"/>
              </a:rPr>
              <a:t>  Adding somebody to the Board section does not give them access to edit the site, and removing them does not take it away.</a:t>
            </a:r>
          </a:p>
          <a:p>
            <a:pPr>
              <a:spcAft>
                <a:spcPts val="1600"/>
              </a:spcAft>
            </a:pPr>
            <a:r>
              <a:rPr sz="1700" b="1" i="0">
                <a:solidFill>
                  <a:srgbClr val="DA7B37"/>
                </a:solidFill>
                <a:latin typeface="Trebuchet MS"/>
              </a:rPr>
              <a:t>▪  </a:t>
            </a:r>
            <a:r>
              <a:rPr sz="1700" b="1" i="0">
                <a:solidFill>
                  <a:srgbClr val="19462B"/>
                </a:solidFill>
                <a:latin typeface="Trebuchet MS"/>
              </a:rPr>
              <a:t>That is deliberate.</a:t>
            </a:r>
            <a:r>
              <a:rPr sz="1700" b="0" i="0">
                <a:solidFill>
                  <a:srgbClr val="1D2A21"/>
                </a:solidFill>
                <a:latin typeface="Trebuchet MS"/>
              </a:rPr>
              <a:t>  It means the roster can be kept accurate by anybody, without accidentally handing out or cutting off access to the website.</a:t>
            </a:r>
          </a:p>
          <a:p>
            <a:pPr>
              <a:spcAft>
                <a:spcPts val="1600"/>
              </a:spcAft>
            </a:pPr>
            <a:r>
              <a:rPr sz="1700" b="1" i="0">
                <a:solidFill>
                  <a:srgbClr val="DA7B37"/>
                </a:solidFill>
                <a:latin typeface="Trebuchet MS"/>
              </a:rPr>
              <a:t>▪  </a:t>
            </a:r>
            <a:r>
              <a:rPr sz="1700" b="1" i="0">
                <a:solidFill>
                  <a:srgbClr val="19462B"/>
                </a:solidFill>
                <a:latin typeface="Trebuchet MS"/>
              </a:rPr>
              <a:t>When somebody leaves the board, do both.</a:t>
            </a:r>
            <a:r>
              <a:rPr sz="1700" b="0" i="0">
                <a:solidFill>
                  <a:srgbClr val="1D2A21"/>
                </a:solidFill>
                <a:latin typeface="Trebuchet MS"/>
              </a:rPr>
              <a:t>  Mark them as a past board member, and ask whoever manages the account to remove their login.</a:t>
            </a:r>
          </a:p>
        </p:txBody>
      </p:sp>
      <p:sp>
        <p:nvSpPr>
          <p:cNvPr id="7" name="TextBox 6"/>
          <p:cNvSpPr txBox="1"/>
          <p:nvPr/>
        </p:nvSpPr>
        <p:spPr>
          <a:xfrm>
            <a:off x="777240" y="6355080"/>
            <a:ext cx="7315200" cy="320040"/>
          </a:xfrm>
          <a:prstGeom prst="rect">
            <a:avLst/>
          </a:prstGeom>
          <a:noFill/>
        </p:spPr>
        <p:txBody>
          <a:bodyPr wrap="square">
            <a:spAutoFit/>
          </a:bodyPr>
          <a:lstStyle/>
          <a:p>
            <a:pPr algn="l"/>
            <a:r>
              <a:rPr sz="1000" b="0" i="0">
                <a:solidFill>
                  <a:srgbClr val="556666"/>
                </a:solidFill>
                <a:latin typeface="Trebuchet MS"/>
              </a:rPr>
              <a:t>Austin Area Firewise Alliance</a:t>
            </a:r>
          </a:p>
        </p:txBody>
      </p:sp>
      <p:sp>
        <p:nvSpPr>
          <p:cNvPr id="8" name="TextBox 7"/>
          <p:cNvSpPr txBox="1"/>
          <p:nvPr/>
        </p:nvSpPr>
        <p:spPr>
          <a:xfrm>
            <a:off x="10058400" y="6355080"/>
            <a:ext cx="1371600" cy="320040"/>
          </a:xfrm>
          <a:prstGeom prst="rect">
            <a:avLst/>
          </a:prstGeom>
          <a:noFill/>
        </p:spPr>
        <p:txBody>
          <a:bodyPr wrap="square">
            <a:spAutoFit/>
          </a:bodyPr>
          <a:lstStyle/>
          <a:p>
            <a:pPr algn="r"/>
            <a:r>
              <a:rPr sz="1000" b="0" i="0">
                <a:solidFill>
                  <a:srgbClr val="556666"/>
                </a:solidFill>
                <a:latin typeface="Trebuchet M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607040" cy="365760"/>
          </a:xfrm>
          <a:prstGeom prst="rect">
            <a:avLst/>
          </a:prstGeom>
          <a:noFill/>
        </p:spPr>
        <p:txBody>
          <a:bodyPr wrap="square">
            <a:spAutoFit/>
          </a:bodyPr>
          <a:lstStyle/>
          <a:p>
            <a:pPr algn="l"/>
            <a:r>
              <a:rPr sz="1200" b="1" i="0">
                <a:solidFill>
                  <a:srgbClr val="4C784B"/>
                </a:solidFill>
                <a:latin typeface="Trebuchet MS"/>
              </a:rPr>
              <a:t>THE MAILING LIST</a:t>
            </a:r>
          </a:p>
        </p:txBody>
      </p:sp>
      <p:sp>
        <p:nvSpPr>
          <p:cNvPr id="4" name="TextBox 3"/>
          <p:cNvSpPr txBox="1"/>
          <p:nvPr/>
        </p:nvSpPr>
        <p:spPr>
          <a:xfrm>
            <a:off x="777240" y="749808"/>
            <a:ext cx="10607040" cy="914400"/>
          </a:xfrm>
          <a:prstGeom prst="rect">
            <a:avLst/>
          </a:prstGeom>
          <a:noFill/>
        </p:spPr>
        <p:txBody>
          <a:bodyPr wrap="square">
            <a:spAutoFit/>
          </a:bodyPr>
          <a:lstStyle/>
          <a:p>
            <a:pPr algn="l"/>
            <a:r>
              <a:rPr sz="3200" b="1" i="0">
                <a:solidFill>
                  <a:srgbClr val="19462B"/>
                </a:solidFill>
                <a:latin typeface="Trebuchet MS"/>
              </a:rPr>
              <a:t>Members and messages</a:t>
            </a:r>
          </a:p>
        </p:txBody>
      </p:sp>
      <p:sp>
        <p:nvSpPr>
          <p:cNvPr id="5" name="Rectangle 4"/>
          <p:cNvSpPr/>
          <p:nvPr/>
        </p:nvSpPr>
        <p:spPr>
          <a:xfrm>
            <a:off x="777240" y="1463040"/>
            <a:ext cx="1371600" cy="50800"/>
          </a:xfrm>
          <a:prstGeom prst="rect">
            <a:avLst/>
          </a:prstGeom>
          <a:solidFill>
            <a:srgbClr val="DA7B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65960"/>
            <a:ext cx="10607040" cy="4114800"/>
          </a:xfrm>
          <a:prstGeom prst="rect">
            <a:avLst/>
          </a:prstGeom>
          <a:noFill/>
        </p:spPr>
        <p:txBody>
          <a:bodyPr wrap="square">
            <a:spAutoFit/>
          </a:bodyPr>
          <a:lstStyle/>
          <a:p>
            <a:pPr algn="l">
              <a:spcAft>
                <a:spcPts val="1400"/>
              </a:spcAft>
            </a:pPr>
            <a:r>
              <a:rPr sz="1600" b="1" i="0">
                <a:solidFill>
                  <a:srgbClr val="DA7B37"/>
                </a:solidFill>
                <a:latin typeface="Trebuchet MS"/>
              </a:rPr>
              <a:t>▪  </a:t>
            </a:r>
            <a:r>
              <a:rPr sz="1600" b="1" i="0">
                <a:solidFill>
                  <a:srgbClr val="19462B"/>
                </a:solidFill>
                <a:latin typeface="Trebuchet MS"/>
              </a:rPr>
              <a:t>Nobody is on the list until they confirm.</a:t>
            </a:r>
            <a:r>
              <a:rPr sz="1600" b="0" i="0">
                <a:solidFill>
                  <a:srgbClr val="1D2A21"/>
                </a:solidFill>
                <a:latin typeface="Trebuchet MS"/>
              </a:rPr>
              <a:t>  One message asks them to; nothing else is ever sent until they answer it. This is a legal requirement, and it is also what keeps our messages out of spam folders.</a:t>
            </a:r>
          </a:p>
          <a:p>
            <a:pPr>
              <a:spcAft>
                <a:spcPts val="1400"/>
              </a:spcAft>
            </a:pPr>
            <a:r>
              <a:rPr sz="1600" b="1" i="0">
                <a:solidFill>
                  <a:srgbClr val="DA7B37"/>
                </a:solidFill>
                <a:latin typeface="Trebuchet MS"/>
              </a:rPr>
              <a:t>▪  </a:t>
            </a:r>
            <a:r>
              <a:rPr sz="1600" b="1" i="0">
                <a:solidFill>
                  <a:srgbClr val="19462B"/>
                </a:solidFill>
                <a:latin typeface="Trebuchet MS"/>
              </a:rPr>
              <a:t>Two people, always.</a:t>
            </a:r>
            <a:r>
              <a:rPr sz="1600" b="0" i="0">
                <a:solidFill>
                  <a:srgbClr val="1D2A21"/>
                </a:solidFill>
                <a:latin typeface="Trebuchet MS"/>
              </a:rPr>
              <a:t>  One board member writes a message, a different one approves it. Nobody can approve their own.</a:t>
            </a:r>
          </a:p>
          <a:p>
            <a:pPr>
              <a:spcAft>
                <a:spcPts val="1400"/>
              </a:spcAft>
            </a:pPr>
            <a:r>
              <a:rPr sz="1600" b="1" i="0">
                <a:solidFill>
                  <a:srgbClr val="DA7B37"/>
                </a:solidFill>
                <a:latin typeface="Trebuchet MS"/>
              </a:rPr>
              <a:t>▪  </a:t>
            </a:r>
            <a:r>
              <a:rPr sz="1600" b="1" i="0">
                <a:solidFill>
                  <a:srgbClr val="19462B"/>
                </a:solidFill>
                <a:latin typeface="Trebuchet MS"/>
              </a:rPr>
              <a:t>Stopping is automatic and permanent.</a:t>
            </a:r>
            <a:r>
              <a:rPr sz="1600" b="0" i="0">
                <a:solidFill>
                  <a:srgbClr val="1D2A21"/>
                </a:solidFill>
                <a:latin typeface="Trebuchet MS"/>
              </a:rPr>
              <a:t>  Unsubscribes, bounced addresses and STOP replies are handled without anybody doing anything, and cannot be undone by a later sign-up.</a:t>
            </a:r>
          </a:p>
          <a:p>
            <a:pPr>
              <a:spcAft>
                <a:spcPts val="1400"/>
              </a:spcAft>
            </a:pPr>
            <a:r>
              <a:rPr sz="1600" b="1" i="0">
                <a:solidFill>
                  <a:srgbClr val="DA7B37"/>
                </a:solidFill>
                <a:latin typeface="Trebuchet MS"/>
              </a:rPr>
              <a:t>▪  </a:t>
            </a:r>
            <a:r>
              <a:rPr sz="1600" b="1" i="0">
                <a:solidFill>
                  <a:srgbClr val="19462B"/>
                </a:solidFill>
                <a:latin typeface="Trebuchet MS"/>
              </a:rPr>
              <a:t>Email and text.</a:t>
            </a:r>
            <a:r>
              <a:rPr sz="1600" b="0" i="0">
                <a:solidFill>
                  <a:srgbClr val="1D2A21"/>
                </a:solidFill>
                <a:latin typeface="Trebuchet MS"/>
              </a:rPr>
              <a:t>  Email is sent through Amazon. Texts go through a toll-free number, once its verification finishes.</a:t>
            </a:r>
          </a:p>
        </p:txBody>
      </p:sp>
      <p:sp>
        <p:nvSpPr>
          <p:cNvPr id="7" name="TextBox 6"/>
          <p:cNvSpPr txBox="1"/>
          <p:nvPr/>
        </p:nvSpPr>
        <p:spPr>
          <a:xfrm>
            <a:off x="777240" y="6355080"/>
            <a:ext cx="7315200" cy="320040"/>
          </a:xfrm>
          <a:prstGeom prst="rect">
            <a:avLst/>
          </a:prstGeom>
          <a:noFill/>
        </p:spPr>
        <p:txBody>
          <a:bodyPr wrap="square">
            <a:spAutoFit/>
          </a:bodyPr>
          <a:lstStyle/>
          <a:p>
            <a:pPr algn="l"/>
            <a:r>
              <a:rPr sz="1000" b="0" i="0">
                <a:solidFill>
                  <a:srgbClr val="556666"/>
                </a:solidFill>
                <a:latin typeface="Trebuchet MS"/>
              </a:rPr>
              <a:t>Austin Area Firewise Alliance</a:t>
            </a:r>
          </a:p>
        </p:txBody>
      </p:sp>
      <p:sp>
        <p:nvSpPr>
          <p:cNvPr id="8" name="TextBox 7"/>
          <p:cNvSpPr txBox="1"/>
          <p:nvPr/>
        </p:nvSpPr>
        <p:spPr>
          <a:xfrm>
            <a:off x="10058400" y="6355080"/>
            <a:ext cx="1371600" cy="320040"/>
          </a:xfrm>
          <a:prstGeom prst="rect">
            <a:avLst/>
          </a:prstGeom>
          <a:noFill/>
        </p:spPr>
        <p:txBody>
          <a:bodyPr wrap="square">
            <a:spAutoFit/>
          </a:bodyPr>
          <a:lstStyle/>
          <a:p>
            <a:pPr algn="r"/>
            <a:r>
              <a:rPr sz="1000" b="0" i="0">
                <a:solidFill>
                  <a:srgbClr val="556666"/>
                </a:solidFill>
                <a:latin typeface="Trebuchet M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607040" cy="365760"/>
          </a:xfrm>
          <a:prstGeom prst="rect">
            <a:avLst/>
          </a:prstGeom>
          <a:noFill/>
        </p:spPr>
        <p:txBody>
          <a:bodyPr wrap="square">
            <a:spAutoFit/>
          </a:bodyPr>
          <a:lstStyle/>
          <a:p>
            <a:pPr algn="l"/>
            <a:r>
              <a:rPr sz="1200" b="1" i="0">
                <a:solidFill>
                  <a:srgbClr val="4C784B"/>
                </a:solidFill>
                <a:latin typeface="Trebuchet MS"/>
              </a:rPr>
              <a:t>MONEY — ACTUAL FIGURES FROM THE BILL</a:t>
            </a:r>
          </a:p>
        </p:txBody>
      </p:sp>
      <p:sp>
        <p:nvSpPr>
          <p:cNvPr id="4" name="TextBox 3"/>
          <p:cNvSpPr txBox="1"/>
          <p:nvPr/>
        </p:nvSpPr>
        <p:spPr>
          <a:xfrm>
            <a:off x="777240" y="749808"/>
            <a:ext cx="10607040" cy="914400"/>
          </a:xfrm>
          <a:prstGeom prst="rect">
            <a:avLst/>
          </a:prstGeom>
          <a:noFill/>
        </p:spPr>
        <p:txBody>
          <a:bodyPr wrap="square">
            <a:spAutoFit/>
          </a:bodyPr>
          <a:lstStyle/>
          <a:p>
            <a:pPr algn="l"/>
            <a:r>
              <a:rPr sz="3200" b="1" i="0">
                <a:solidFill>
                  <a:srgbClr val="19462B"/>
                </a:solidFill>
                <a:latin typeface="Trebuchet MS"/>
              </a:rPr>
              <a:t>What it costs</a:t>
            </a:r>
          </a:p>
        </p:txBody>
      </p:sp>
      <p:sp>
        <p:nvSpPr>
          <p:cNvPr id="5" name="Rectangle 4"/>
          <p:cNvSpPr/>
          <p:nvPr/>
        </p:nvSpPr>
        <p:spPr>
          <a:xfrm>
            <a:off x="777240" y="1463040"/>
            <a:ext cx="1371600" cy="50800"/>
          </a:xfrm>
          <a:prstGeom prst="rect">
            <a:avLst/>
          </a:prstGeom>
          <a:solidFill>
            <a:srgbClr val="DA7B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19072"/>
            <a:ext cx="7863840" cy="411480"/>
          </a:xfrm>
          <a:prstGeom prst="rect">
            <a:avLst/>
          </a:prstGeom>
          <a:noFill/>
        </p:spPr>
        <p:txBody>
          <a:bodyPr wrap="square">
            <a:spAutoFit/>
          </a:bodyPr>
          <a:lstStyle/>
          <a:p>
            <a:pPr algn="l"/>
            <a:r>
              <a:rPr sz="1500" b="0" i="0">
                <a:solidFill>
                  <a:srgbClr val="1D2A21"/>
                </a:solidFill>
                <a:latin typeface="Trebuchet MS"/>
              </a:rPr>
              <a:t>Route 53 hosted zone</a:t>
            </a:r>
          </a:p>
        </p:txBody>
      </p:sp>
      <p:sp>
        <p:nvSpPr>
          <p:cNvPr id="7" name="TextBox 6"/>
          <p:cNvSpPr txBox="1"/>
          <p:nvPr/>
        </p:nvSpPr>
        <p:spPr>
          <a:xfrm>
            <a:off x="777240" y="1956815"/>
            <a:ext cx="7863840" cy="320040"/>
          </a:xfrm>
          <a:prstGeom prst="rect">
            <a:avLst/>
          </a:prstGeom>
          <a:noFill/>
        </p:spPr>
        <p:txBody>
          <a:bodyPr wrap="square">
            <a:spAutoFit/>
          </a:bodyPr>
          <a:lstStyle/>
          <a:p>
            <a:pPr algn="l"/>
            <a:r>
              <a:rPr sz="1100" b="0" i="0">
                <a:solidFill>
                  <a:srgbClr val="556666"/>
                </a:solidFill>
                <a:latin typeface="Trebuchet MS"/>
              </a:rPr>
              <a:t>The fixed charge for holding the domain’s address records. The only charge that is not pennies.</a:t>
            </a:r>
          </a:p>
        </p:txBody>
      </p:sp>
      <p:sp>
        <p:nvSpPr>
          <p:cNvPr id="8" name="TextBox 7"/>
          <p:cNvSpPr txBox="1"/>
          <p:nvPr/>
        </p:nvSpPr>
        <p:spPr>
          <a:xfrm>
            <a:off x="8778240" y="1719072"/>
            <a:ext cx="2606040" cy="411480"/>
          </a:xfrm>
          <a:prstGeom prst="rect">
            <a:avLst/>
          </a:prstGeom>
          <a:noFill/>
        </p:spPr>
        <p:txBody>
          <a:bodyPr wrap="square">
            <a:spAutoFit/>
          </a:bodyPr>
          <a:lstStyle/>
          <a:p>
            <a:pPr algn="r"/>
            <a:r>
              <a:rPr sz="1500" b="0" i="0">
                <a:solidFill>
                  <a:srgbClr val="1D2A21"/>
                </a:solidFill>
                <a:latin typeface="Trebuchet MS"/>
              </a:rPr>
              <a:t>$0.50 / month</a:t>
            </a:r>
          </a:p>
        </p:txBody>
      </p:sp>
      <p:sp>
        <p:nvSpPr>
          <p:cNvPr id="9" name="TextBox 8"/>
          <p:cNvSpPr txBox="1"/>
          <p:nvPr/>
        </p:nvSpPr>
        <p:spPr>
          <a:xfrm>
            <a:off x="777240" y="2322576"/>
            <a:ext cx="7863840" cy="411480"/>
          </a:xfrm>
          <a:prstGeom prst="rect">
            <a:avLst/>
          </a:prstGeom>
          <a:noFill/>
        </p:spPr>
        <p:txBody>
          <a:bodyPr wrap="square">
            <a:spAutoFit/>
          </a:bodyPr>
          <a:lstStyle/>
          <a:p>
            <a:pPr algn="l"/>
            <a:r>
              <a:rPr sz="1500" b="0" i="0">
                <a:solidFill>
                  <a:srgbClr val="1D2A21"/>
                </a:solidFill>
                <a:latin typeface="Trebuchet MS"/>
              </a:rPr>
              <a:t>DNS lookups — 2,205 of them so far</a:t>
            </a:r>
          </a:p>
        </p:txBody>
      </p:sp>
      <p:sp>
        <p:nvSpPr>
          <p:cNvPr id="10" name="TextBox 9"/>
          <p:cNvSpPr txBox="1"/>
          <p:nvPr/>
        </p:nvSpPr>
        <p:spPr>
          <a:xfrm>
            <a:off x="8778240" y="2322576"/>
            <a:ext cx="2606040" cy="411480"/>
          </a:xfrm>
          <a:prstGeom prst="rect">
            <a:avLst/>
          </a:prstGeom>
          <a:noFill/>
        </p:spPr>
        <p:txBody>
          <a:bodyPr wrap="square">
            <a:spAutoFit/>
          </a:bodyPr>
          <a:lstStyle/>
          <a:p>
            <a:pPr algn="r"/>
            <a:r>
              <a:rPr sz="1500" b="0" i="0">
                <a:solidFill>
                  <a:srgbClr val="1D2A21"/>
                </a:solidFill>
                <a:latin typeface="Trebuchet MS"/>
              </a:rPr>
              <a:t>$0.0009</a:t>
            </a:r>
          </a:p>
        </p:txBody>
      </p:sp>
      <p:sp>
        <p:nvSpPr>
          <p:cNvPr id="11" name="TextBox 10"/>
          <p:cNvSpPr txBox="1"/>
          <p:nvPr/>
        </p:nvSpPr>
        <p:spPr>
          <a:xfrm>
            <a:off x="777240" y="2724912"/>
            <a:ext cx="7863840" cy="411480"/>
          </a:xfrm>
          <a:prstGeom prst="rect">
            <a:avLst/>
          </a:prstGeom>
          <a:noFill/>
        </p:spPr>
        <p:txBody>
          <a:bodyPr wrap="square">
            <a:spAutoFit/>
          </a:bodyPr>
          <a:lstStyle/>
          <a:p>
            <a:pPr algn="l"/>
            <a:r>
              <a:rPr sz="1500" b="0" i="0">
                <a:solidFill>
                  <a:srgbClr val="1D2A21"/>
                </a:solidFill>
                <a:latin typeface="Trebuchet MS"/>
              </a:rPr>
              <a:t>Amplify, S3, Lambda, DynamoDB, Cognito, API Gateway</a:t>
            </a:r>
          </a:p>
        </p:txBody>
      </p:sp>
      <p:sp>
        <p:nvSpPr>
          <p:cNvPr id="12" name="TextBox 11"/>
          <p:cNvSpPr txBox="1"/>
          <p:nvPr/>
        </p:nvSpPr>
        <p:spPr>
          <a:xfrm>
            <a:off x="777240" y="2962656"/>
            <a:ext cx="7863840" cy="320040"/>
          </a:xfrm>
          <a:prstGeom prst="rect">
            <a:avLst/>
          </a:prstGeom>
          <a:noFill/>
        </p:spPr>
        <p:txBody>
          <a:bodyPr wrap="square">
            <a:spAutoFit/>
          </a:bodyPr>
          <a:lstStyle/>
          <a:p>
            <a:pPr algn="l"/>
            <a:r>
              <a:rPr sz="1100" b="0" i="0">
                <a:solidFill>
                  <a:srgbClr val="556666"/>
                </a:solidFill>
                <a:latin typeface="Trebuchet MS"/>
              </a:rPr>
              <a:t>All six together, for the month to date.</a:t>
            </a:r>
          </a:p>
        </p:txBody>
      </p:sp>
      <p:sp>
        <p:nvSpPr>
          <p:cNvPr id="13" name="TextBox 12"/>
          <p:cNvSpPr txBox="1"/>
          <p:nvPr/>
        </p:nvSpPr>
        <p:spPr>
          <a:xfrm>
            <a:off x="8778240" y="2724912"/>
            <a:ext cx="2606040" cy="411480"/>
          </a:xfrm>
          <a:prstGeom prst="rect">
            <a:avLst/>
          </a:prstGeom>
          <a:noFill/>
        </p:spPr>
        <p:txBody>
          <a:bodyPr wrap="square">
            <a:spAutoFit/>
          </a:bodyPr>
          <a:lstStyle/>
          <a:p>
            <a:pPr algn="r"/>
            <a:r>
              <a:rPr sz="1500" b="0" i="0">
                <a:solidFill>
                  <a:srgbClr val="1D2A21"/>
                </a:solidFill>
                <a:latin typeface="Trebuchet MS"/>
              </a:rPr>
              <a:t>$0.0004</a:t>
            </a:r>
          </a:p>
        </p:txBody>
      </p:sp>
      <p:sp>
        <p:nvSpPr>
          <p:cNvPr id="14" name="Rectangle 13"/>
          <p:cNvSpPr/>
          <p:nvPr/>
        </p:nvSpPr>
        <p:spPr>
          <a:xfrm>
            <a:off x="777240" y="3328416"/>
            <a:ext cx="10607040" cy="12700"/>
          </a:xfrm>
          <a:prstGeom prst="rect">
            <a:avLst/>
          </a:prstGeom>
          <a:solidFill>
            <a:srgbClr val="E2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474720"/>
            <a:ext cx="7863840" cy="411480"/>
          </a:xfrm>
          <a:prstGeom prst="rect">
            <a:avLst/>
          </a:prstGeom>
          <a:noFill/>
        </p:spPr>
        <p:txBody>
          <a:bodyPr wrap="square">
            <a:spAutoFit/>
          </a:bodyPr>
          <a:lstStyle/>
          <a:p>
            <a:pPr algn="l"/>
            <a:r>
              <a:rPr sz="1500" b="1" i="0">
                <a:solidFill>
                  <a:srgbClr val="19462B"/>
                </a:solidFill>
                <a:latin typeface="Trebuchet MS"/>
              </a:rPr>
              <a:t>September so far — everything</a:t>
            </a:r>
          </a:p>
        </p:txBody>
      </p:sp>
      <p:sp>
        <p:nvSpPr>
          <p:cNvPr id="16" name="TextBox 15"/>
          <p:cNvSpPr txBox="1"/>
          <p:nvPr/>
        </p:nvSpPr>
        <p:spPr>
          <a:xfrm>
            <a:off x="8778240" y="3474720"/>
            <a:ext cx="2606040" cy="411480"/>
          </a:xfrm>
          <a:prstGeom prst="rect">
            <a:avLst/>
          </a:prstGeom>
          <a:noFill/>
        </p:spPr>
        <p:txBody>
          <a:bodyPr wrap="square">
            <a:spAutoFit/>
          </a:bodyPr>
          <a:lstStyle/>
          <a:p>
            <a:pPr algn="r"/>
            <a:r>
              <a:rPr sz="1500" b="1" i="0">
                <a:solidFill>
                  <a:srgbClr val="265438"/>
                </a:solidFill>
                <a:latin typeface="Trebuchet MS"/>
              </a:rPr>
              <a:t>$0.50</a:t>
            </a:r>
          </a:p>
        </p:txBody>
      </p:sp>
      <p:sp>
        <p:nvSpPr>
          <p:cNvPr id="17" name="TextBox 16"/>
          <p:cNvSpPr txBox="1"/>
          <p:nvPr/>
        </p:nvSpPr>
        <p:spPr>
          <a:xfrm>
            <a:off x="777240" y="3895344"/>
            <a:ext cx="7863840" cy="411480"/>
          </a:xfrm>
          <a:prstGeom prst="rect">
            <a:avLst/>
          </a:prstGeom>
          <a:noFill/>
        </p:spPr>
        <p:txBody>
          <a:bodyPr wrap="square">
            <a:spAutoFit/>
          </a:bodyPr>
          <a:lstStyle/>
          <a:p>
            <a:pPr algn="l"/>
            <a:r>
              <a:rPr sz="1500" b="0" i="0">
                <a:solidFill>
                  <a:srgbClr val="1D2A21"/>
                </a:solidFill>
                <a:latin typeface="Trebuchet MS"/>
              </a:rPr>
              <a:t>August</a:t>
            </a:r>
          </a:p>
        </p:txBody>
      </p:sp>
      <p:sp>
        <p:nvSpPr>
          <p:cNvPr id="18" name="TextBox 17"/>
          <p:cNvSpPr txBox="1"/>
          <p:nvPr/>
        </p:nvSpPr>
        <p:spPr>
          <a:xfrm>
            <a:off x="777240" y="4133088"/>
            <a:ext cx="7863840" cy="320040"/>
          </a:xfrm>
          <a:prstGeom prst="rect">
            <a:avLst/>
          </a:prstGeom>
          <a:noFill/>
        </p:spPr>
        <p:txBody>
          <a:bodyPr wrap="square">
            <a:spAutoFit/>
          </a:bodyPr>
          <a:lstStyle/>
          <a:p>
            <a:pPr algn="l"/>
            <a:r>
              <a:rPr sz="1100" b="0" i="0">
                <a:solidFill>
                  <a:srgbClr val="556666"/>
                </a:solidFill>
                <a:latin typeface="Trebuchet MS"/>
              </a:rPr>
              <a:t>Nothing was running yet.</a:t>
            </a:r>
          </a:p>
        </p:txBody>
      </p:sp>
      <p:sp>
        <p:nvSpPr>
          <p:cNvPr id="19" name="TextBox 18"/>
          <p:cNvSpPr txBox="1"/>
          <p:nvPr/>
        </p:nvSpPr>
        <p:spPr>
          <a:xfrm>
            <a:off x="8778240" y="3895344"/>
            <a:ext cx="2606040" cy="411480"/>
          </a:xfrm>
          <a:prstGeom prst="rect">
            <a:avLst/>
          </a:prstGeom>
          <a:noFill/>
        </p:spPr>
        <p:txBody>
          <a:bodyPr wrap="square">
            <a:spAutoFit/>
          </a:bodyPr>
          <a:lstStyle/>
          <a:p>
            <a:pPr algn="r"/>
            <a:r>
              <a:rPr sz="1500" b="0" i="0">
                <a:solidFill>
                  <a:srgbClr val="1D2A21"/>
                </a:solidFill>
                <a:latin typeface="Trebuchet MS"/>
              </a:rPr>
              <a:t>$0.00</a:t>
            </a:r>
          </a:p>
        </p:txBody>
      </p:sp>
      <p:sp>
        <p:nvSpPr>
          <p:cNvPr id="20" name="TextBox 19"/>
          <p:cNvSpPr txBox="1"/>
          <p:nvPr/>
        </p:nvSpPr>
        <p:spPr>
          <a:xfrm>
            <a:off x="777240" y="4480560"/>
            <a:ext cx="7863840" cy="411480"/>
          </a:xfrm>
          <a:prstGeom prst="rect">
            <a:avLst/>
          </a:prstGeom>
          <a:noFill/>
        </p:spPr>
        <p:txBody>
          <a:bodyPr wrap="square">
            <a:spAutoFit/>
          </a:bodyPr>
          <a:lstStyle/>
          <a:p>
            <a:pPr algn="l"/>
            <a:r>
              <a:rPr sz="1500" b="0" i="0">
                <a:solidFill>
                  <a:srgbClr val="1D2A21"/>
                </a:solidFill>
                <a:latin typeface="Trebuchet MS"/>
              </a:rPr>
              <a:t>austinareafirewise.org — registration and renewal</a:t>
            </a:r>
          </a:p>
        </p:txBody>
      </p:sp>
      <p:sp>
        <p:nvSpPr>
          <p:cNvPr id="21" name="TextBox 20"/>
          <p:cNvSpPr txBox="1"/>
          <p:nvPr/>
        </p:nvSpPr>
        <p:spPr>
          <a:xfrm>
            <a:off x="777240" y="4718304"/>
            <a:ext cx="7863840" cy="320040"/>
          </a:xfrm>
          <a:prstGeom prst="rect">
            <a:avLst/>
          </a:prstGeom>
          <a:noFill/>
        </p:spPr>
        <p:txBody>
          <a:bodyPr wrap="square">
            <a:spAutoFit/>
          </a:bodyPr>
          <a:lstStyle/>
          <a:p>
            <a:pPr algn="l"/>
            <a:r>
              <a:rPr sz="1100" b="0" i="0">
                <a:solidFill>
                  <a:srgbClr val="556666"/>
                </a:solidFill>
                <a:latin typeface="Trebuchet MS"/>
              </a:rPr>
              <a:t>Amazon’s current .org price. Renews 12 September 2027, automatically. Not yet on the bill.</a:t>
            </a:r>
          </a:p>
        </p:txBody>
      </p:sp>
      <p:sp>
        <p:nvSpPr>
          <p:cNvPr id="22" name="TextBox 21"/>
          <p:cNvSpPr txBox="1"/>
          <p:nvPr/>
        </p:nvSpPr>
        <p:spPr>
          <a:xfrm>
            <a:off x="8778240" y="4480560"/>
            <a:ext cx="2606040" cy="411480"/>
          </a:xfrm>
          <a:prstGeom prst="rect">
            <a:avLst/>
          </a:prstGeom>
          <a:noFill/>
        </p:spPr>
        <p:txBody>
          <a:bodyPr wrap="square">
            <a:spAutoFit/>
          </a:bodyPr>
          <a:lstStyle/>
          <a:p>
            <a:pPr algn="r"/>
            <a:r>
              <a:rPr sz="1500" b="0" i="0">
                <a:solidFill>
                  <a:srgbClr val="1D2A21"/>
                </a:solidFill>
                <a:latin typeface="Trebuchet MS"/>
              </a:rPr>
              <a:t>$16.00 / year</a:t>
            </a:r>
          </a:p>
        </p:txBody>
      </p:sp>
      <p:sp>
        <p:nvSpPr>
          <p:cNvPr id="23" name="TextBox 22"/>
          <p:cNvSpPr txBox="1"/>
          <p:nvPr/>
        </p:nvSpPr>
        <p:spPr>
          <a:xfrm>
            <a:off x="777240" y="5065776"/>
            <a:ext cx="7863840" cy="411480"/>
          </a:xfrm>
          <a:prstGeom prst="rect">
            <a:avLst/>
          </a:prstGeom>
          <a:noFill/>
        </p:spPr>
        <p:txBody>
          <a:bodyPr wrap="square">
            <a:spAutoFit/>
          </a:bodyPr>
          <a:lstStyle/>
          <a:p>
            <a:pPr algn="l"/>
            <a:r>
              <a:rPr sz="1500" b="0" i="0">
                <a:solidFill>
                  <a:srgbClr val="1D2A21"/>
                </a:solidFill>
                <a:latin typeface="Trebuchet MS"/>
              </a:rPr>
              <a:t>Text messages</a:t>
            </a:r>
          </a:p>
        </p:txBody>
      </p:sp>
      <p:sp>
        <p:nvSpPr>
          <p:cNvPr id="24" name="TextBox 23"/>
          <p:cNvSpPr txBox="1"/>
          <p:nvPr/>
        </p:nvSpPr>
        <p:spPr>
          <a:xfrm>
            <a:off x="777240" y="5303520"/>
            <a:ext cx="7863840" cy="320040"/>
          </a:xfrm>
          <a:prstGeom prst="rect">
            <a:avLst/>
          </a:prstGeom>
          <a:noFill/>
        </p:spPr>
        <p:txBody>
          <a:bodyPr wrap="square">
            <a:spAutoFit/>
          </a:bodyPr>
          <a:lstStyle/>
          <a:p>
            <a:pPr algn="l"/>
            <a:r>
              <a:rPr sz="1100" b="0" i="0">
                <a:solidFill>
                  <a:srgbClr val="556666"/>
                </a:solidFill>
                <a:latin typeface="Trebuchet MS"/>
              </a:rPr>
              <a:t>The toll-free number is still being verified. Charges start when it goes live.</a:t>
            </a:r>
          </a:p>
        </p:txBody>
      </p:sp>
      <p:sp>
        <p:nvSpPr>
          <p:cNvPr id="25" name="TextBox 24"/>
          <p:cNvSpPr txBox="1"/>
          <p:nvPr/>
        </p:nvSpPr>
        <p:spPr>
          <a:xfrm>
            <a:off x="8778240" y="5065776"/>
            <a:ext cx="2606040" cy="411480"/>
          </a:xfrm>
          <a:prstGeom prst="rect">
            <a:avLst/>
          </a:prstGeom>
          <a:noFill/>
        </p:spPr>
        <p:txBody>
          <a:bodyPr wrap="square">
            <a:spAutoFit/>
          </a:bodyPr>
          <a:lstStyle/>
          <a:p>
            <a:pPr algn="r"/>
            <a:r>
              <a:rPr sz="1500" b="0" i="0">
                <a:solidFill>
                  <a:srgbClr val="1D2A21"/>
                </a:solidFill>
                <a:latin typeface="Trebuchet MS"/>
              </a:rPr>
              <a:t>not billed yet</a:t>
            </a:r>
          </a:p>
        </p:txBody>
      </p:sp>
      <p:sp>
        <p:nvSpPr>
          <p:cNvPr id="26" name="Rounded Rectangle 25"/>
          <p:cNvSpPr/>
          <p:nvPr/>
        </p:nvSpPr>
        <p:spPr>
          <a:xfrm>
            <a:off x="777240" y="5760720"/>
            <a:ext cx="10607040" cy="502920"/>
          </a:xfrm>
          <a:prstGeom prst="roundRect">
            <a:avLst/>
          </a:prstGeom>
          <a:solidFill>
            <a:srgbClr val="D7E0D9"/>
          </a:solidFill>
          <a:ln w="12700">
            <a:solidFill>
              <a:srgbClr val="4C784B"/>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300" b="0" i="0">
                <a:solidFill>
                  <a:srgbClr val="19462B"/>
                </a:solidFill>
                <a:latin typeface="Trebuchet MS"/>
              </a:rPr>
              <a:t>About $22 a year at today’s traffic — $6 of hosted zone plus the $16 name. Text messages are the one line that will grow.</a:t>
            </a:r>
          </a:p>
        </p:txBody>
      </p:sp>
      <p:sp>
        <p:nvSpPr>
          <p:cNvPr id="27" name="TextBox 26"/>
          <p:cNvSpPr txBox="1"/>
          <p:nvPr/>
        </p:nvSpPr>
        <p:spPr>
          <a:xfrm>
            <a:off x="777240" y="6355080"/>
            <a:ext cx="7315200" cy="320040"/>
          </a:xfrm>
          <a:prstGeom prst="rect">
            <a:avLst/>
          </a:prstGeom>
          <a:noFill/>
        </p:spPr>
        <p:txBody>
          <a:bodyPr wrap="square">
            <a:spAutoFit/>
          </a:bodyPr>
          <a:lstStyle/>
          <a:p>
            <a:pPr algn="l"/>
            <a:r>
              <a:rPr sz="1000" b="0" i="0">
                <a:solidFill>
                  <a:srgbClr val="556666"/>
                </a:solidFill>
                <a:latin typeface="Trebuchet MS"/>
              </a:rPr>
              <a:t>Austin Area Firewise Alliance</a:t>
            </a:r>
          </a:p>
        </p:txBody>
      </p:sp>
      <p:sp>
        <p:nvSpPr>
          <p:cNvPr id="28" name="TextBox 27"/>
          <p:cNvSpPr txBox="1"/>
          <p:nvPr/>
        </p:nvSpPr>
        <p:spPr>
          <a:xfrm>
            <a:off x="10058400" y="6355080"/>
            <a:ext cx="1371600" cy="320040"/>
          </a:xfrm>
          <a:prstGeom prst="rect">
            <a:avLst/>
          </a:prstGeom>
          <a:noFill/>
        </p:spPr>
        <p:txBody>
          <a:bodyPr wrap="square">
            <a:spAutoFit/>
          </a:bodyPr>
          <a:lstStyle/>
          <a:p>
            <a:pPr algn="r"/>
            <a:r>
              <a:rPr sz="1000" b="0" i="0">
                <a:solidFill>
                  <a:srgbClr val="556666"/>
                </a:solidFill>
                <a:latin typeface="Trebuchet M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607040" cy="365760"/>
          </a:xfrm>
          <a:prstGeom prst="rect">
            <a:avLst/>
          </a:prstGeom>
          <a:noFill/>
        </p:spPr>
        <p:txBody>
          <a:bodyPr wrap="square">
            <a:spAutoFit/>
          </a:bodyPr>
          <a:lstStyle/>
          <a:p>
            <a:pPr algn="l"/>
            <a:r>
              <a:rPr sz="1200" b="1" i="0">
                <a:solidFill>
                  <a:srgbClr val="4C784B"/>
                </a:solidFill>
                <a:latin typeface="Trebuchet MS"/>
              </a:rPr>
              <a:t>RESILIENCE</a:t>
            </a:r>
          </a:p>
        </p:txBody>
      </p:sp>
      <p:sp>
        <p:nvSpPr>
          <p:cNvPr id="4" name="TextBox 3"/>
          <p:cNvSpPr txBox="1"/>
          <p:nvPr/>
        </p:nvSpPr>
        <p:spPr>
          <a:xfrm>
            <a:off x="777240" y="749808"/>
            <a:ext cx="10607040" cy="914400"/>
          </a:xfrm>
          <a:prstGeom prst="rect">
            <a:avLst/>
          </a:prstGeom>
          <a:noFill/>
        </p:spPr>
        <p:txBody>
          <a:bodyPr wrap="square">
            <a:spAutoFit/>
          </a:bodyPr>
          <a:lstStyle/>
          <a:p>
            <a:pPr algn="l"/>
            <a:r>
              <a:rPr sz="3200" b="1" i="0">
                <a:solidFill>
                  <a:srgbClr val="19462B"/>
                </a:solidFill>
                <a:latin typeface="Trebuchet MS"/>
              </a:rPr>
              <a:t>If something goes wrong</a:t>
            </a:r>
          </a:p>
        </p:txBody>
      </p:sp>
      <p:sp>
        <p:nvSpPr>
          <p:cNvPr id="5" name="Rectangle 4"/>
          <p:cNvSpPr/>
          <p:nvPr/>
        </p:nvSpPr>
        <p:spPr>
          <a:xfrm>
            <a:off x="777240" y="1463040"/>
            <a:ext cx="1371600" cy="50800"/>
          </a:xfrm>
          <a:prstGeom prst="rect">
            <a:avLst/>
          </a:prstGeom>
          <a:solidFill>
            <a:srgbClr val="DA7B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11680"/>
            <a:ext cx="10607040" cy="4114800"/>
          </a:xfrm>
          <a:prstGeom prst="rect">
            <a:avLst/>
          </a:prstGeom>
          <a:noFill/>
        </p:spPr>
        <p:txBody>
          <a:bodyPr wrap="square">
            <a:spAutoFit/>
          </a:bodyPr>
          <a:lstStyle/>
          <a:p>
            <a:pPr algn="l">
              <a:spcAft>
                <a:spcPts val="1600"/>
              </a:spcAft>
            </a:pPr>
            <a:r>
              <a:rPr sz="1700" b="1" i="0">
                <a:solidFill>
                  <a:srgbClr val="DA7B37"/>
                </a:solidFill>
                <a:latin typeface="Trebuchet MS"/>
              </a:rPr>
              <a:t>▪  </a:t>
            </a:r>
            <a:r>
              <a:rPr sz="1700" b="1" i="0">
                <a:solidFill>
                  <a:srgbClr val="19462B"/>
                </a:solidFill>
                <a:latin typeface="Trebuchet MS"/>
              </a:rPr>
              <a:t>The website stays up.</a:t>
            </a:r>
            <a:r>
              <a:rPr sz="1700" b="0" i="0">
                <a:solidFill>
                  <a:srgbClr val="1D2A21"/>
                </a:solidFill>
                <a:latin typeface="Trebuchet MS"/>
              </a:rPr>
              <a:t>  It keeps serving the last published version. A problem in the admin area is invisible to visitors.</a:t>
            </a:r>
          </a:p>
          <a:p>
            <a:pPr>
              <a:spcAft>
                <a:spcPts val="1600"/>
              </a:spcAft>
            </a:pPr>
            <a:r>
              <a:rPr sz="1700" b="1" i="0">
                <a:solidFill>
                  <a:srgbClr val="DA7B37"/>
                </a:solidFill>
                <a:latin typeface="Trebuchet MS"/>
              </a:rPr>
              <a:t>▪  </a:t>
            </a:r>
            <a:r>
              <a:rPr sz="1700" b="1" i="0">
                <a:solidFill>
                  <a:srgbClr val="19462B"/>
                </a:solidFill>
                <a:latin typeface="Trebuchet MS"/>
              </a:rPr>
              <a:t>Nothing is lost.</a:t>
            </a:r>
            <a:r>
              <a:rPr sz="1700" b="0" i="0">
                <a:solidFill>
                  <a:srgbClr val="1D2A21"/>
                </a:solidFill>
                <a:latin typeface="Trebuchet MS"/>
              </a:rPr>
              <a:t>  Every version of the site is kept. Any change can be reversed.</a:t>
            </a:r>
          </a:p>
          <a:p>
            <a:pPr>
              <a:spcAft>
                <a:spcPts val="1600"/>
              </a:spcAft>
            </a:pPr>
            <a:r>
              <a:rPr sz="1700" b="1" i="0">
                <a:solidFill>
                  <a:srgbClr val="DA7B37"/>
                </a:solidFill>
                <a:latin typeface="Trebuchet MS"/>
              </a:rPr>
              <a:t>▪  </a:t>
            </a:r>
            <a:r>
              <a:rPr sz="1700" b="1" i="0">
                <a:solidFill>
                  <a:srgbClr val="19462B"/>
                </a:solidFill>
                <a:latin typeface="Trebuchet MS"/>
              </a:rPr>
              <a:t>A failed save changes nothing.</a:t>
            </a:r>
            <a:r>
              <a:rPr sz="1700" b="0" i="0">
                <a:solidFill>
                  <a:srgbClr val="1D2A21"/>
                </a:solidFill>
                <a:latin typeface="Trebuchet MS"/>
              </a:rPr>
              <a:t>  If an error appears, it is safe to stop and ask rather than trying again and again.</a:t>
            </a:r>
          </a:p>
          <a:p>
            <a:pPr>
              <a:spcAft>
                <a:spcPts val="1600"/>
              </a:spcAft>
            </a:pPr>
            <a:r>
              <a:rPr sz="1700" b="1" i="0">
                <a:solidFill>
                  <a:srgbClr val="DA7B37"/>
                </a:solidFill>
                <a:latin typeface="Trebuchet MS"/>
              </a:rPr>
              <a:t>▪  </a:t>
            </a:r>
            <a:r>
              <a:rPr sz="1700" b="1" i="0">
                <a:solidFill>
                  <a:srgbClr val="19462B"/>
                </a:solidFill>
                <a:latin typeface="Trebuchet MS"/>
              </a:rPr>
              <a:t>It can be rebuilt.</a:t>
            </a:r>
            <a:r>
              <a:rPr sz="1700" b="0" i="0">
                <a:solidFill>
                  <a:srgbClr val="1D2A21"/>
                </a:solidFill>
                <a:latin typeface="Trebuchet MS"/>
              </a:rPr>
              <a:t>  The whole set-up is written down, step by step, so somebody who has never seen it could rebuild it from nothing.</a:t>
            </a:r>
          </a:p>
        </p:txBody>
      </p:sp>
      <p:sp>
        <p:nvSpPr>
          <p:cNvPr id="7" name="TextBox 6"/>
          <p:cNvSpPr txBox="1"/>
          <p:nvPr/>
        </p:nvSpPr>
        <p:spPr>
          <a:xfrm>
            <a:off x="777240" y="6355080"/>
            <a:ext cx="7315200" cy="320040"/>
          </a:xfrm>
          <a:prstGeom prst="rect">
            <a:avLst/>
          </a:prstGeom>
          <a:noFill/>
        </p:spPr>
        <p:txBody>
          <a:bodyPr wrap="square">
            <a:spAutoFit/>
          </a:bodyPr>
          <a:lstStyle/>
          <a:p>
            <a:pPr algn="l"/>
            <a:r>
              <a:rPr sz="1000" b="0" i="0">
                <a:solidFill>
                  <a:srgbClr val="556666"/>
                </a:solidFill>
                <a:latin typeface="Trebuchet MS"/>
              </a:rPr>
              <a:t>Austin Area Firewise Alliance</a:t>
            </a:r>
          </a:p>
        </p:txBody>
      </p:sp>
      <p:sp>
        <p:nvSpPr>
          <p:cNvPr id="8" name="TextBox 7"/>
          <p:cNvSpPr txBox="1"/>
          <p:nvPr/>
        </p:nvSpPr>
        <p:spPr>
          <a:xfrm>
            <a:off x="10058400" y="6355080"/>
            <a:ext cx="1371600" cy="320040"/>
          </a:xfrm>
          <a:prstGeom prst="rect">
            <a:avLst/>
          </a:prstGeom>
          <a:noFill/>
        </p:spPr>
        <p:txBody>
          <a:bodyPr wrap="square">
            <a:spAutoFit/>
          </a:bodyPr>
          <a:lstStyle/>
          <a:p>
            <a:pPr algn="r"/>
            <a:r>
              <a:rPr sz="1000" b="0" i="0">
                <a:solidFill>
                  <a:srgbClr val="556666"/>
                </a:solidFill>
                <a:latin typeface="Trebuchet M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10607040" cy="365760"/>
          </a:xfrm>
          <a:prstGeom prst="rect">
            <a:avLst/>
          </a:prstGeom>
          <a:noFill/>
        </p:spPr>
        <p:txBody>
          <a:bodyPr wrap="square">
            <a:spAutoFit/>
          </a:bodyPr>
          <a:lstStyle/>
          <a:p>
            <a:pPr algn="l"/>
            <a:r>
              <a:rPr sz="1200" b="1" i="0">
                <a:solidFill>
                  <a:srgbClr val="4C784B"/>
                </a:solidFill>
                <a:latin typeface="Trebuchet MS"/>
              </a:rPr>
              <a:t>HANDOVER</a:t>
            </a:r>
          </a:p>
        </p:txBody>
      </p:sp>
      <p:sp>
        <p:nvSpPr>
          <p:cNvPr id="4" name="TextBox 3"/>
          <p:cNvSpPr txBox="1"/>
          <p:nvPr/>
        </p:nvSpPr>
        <p:spPr>
          <a:xfrm>
            <a:off x="777240" y="749808"/>
            <a:ext cx="10607040" cy="914400"/>
          </a:xfrm>
          <a:prstGeom prst="rect">
            <a:avLst/>
          </a:prstGeom>
          <a:noFill/>
        </p:spPr>
        <p:txBody>
          <a:bodyPr wrap="square">
            <a:spAutoFit/>
          </a:bodyPr>
          <a:lstStyle/>
          <a:p>
            <a:pPr algn="l"/>
            <a:r>
              <a:rPr sz="3200" b="1" i="0">
                <a:solidFill>
                  <a:srgbClr val="19462B"/>
                </a:solidFill>
                <a:latin typeface="Trebuchet MS"/>
              </a:rPr>
              <a:t>Where the instructions are</a:t>
            </a:r>
          </a:p>
        </p:txBody>
      </p:sp>
      <p:sp>
        <p:nvSpPr>
          <p:cNvPr id="5" name="Rectangle 4"/>
          <p:cNvSpPr/>
          <p:nvPr/>
        </p:nvSpPr>
        <p:spPr>
          <a:xfrm>
            <a:off x="777240" y="1463040"/>
            <a:ext cx="1371600" cy="50800"/>
          </a:xfrm>
          <a:prstGeom prst="rect">
            <a:avLst/>
          </a:prstGeom>
          <a:solidFill>
            <a:srgbClr val="DA7B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11680"/>
            <a:ext cx="10607040" cy="4114800"/>
          </a:xfrm>
          <a:prstGeom prst="rect">
            <a:avLst/>
          </a:prstGeom>
          <a:noFill/>
        </p:spPr>
        <p:txBody>
          <a:bodyPr wrap="square">
            <a:spAutoFit/>
          </a:bodyPr>
          <a:lstStyle/>
          <a:p>
            <a:pPr algn="l">
              <a:spcAft>
                <a:spcPts val="1600"/>
              </a:spcAft>
            </a:pPr>
            <a:r>
              <a:rPr sz="1700" b="1" i="0">
                <a:solidFill>
                  <a:srgbClr val="DA7B37"/>
                </a:solidFill>
                <a:latin typeface="Trebuchet MS"/>
              </a:rPr>
              <a:t>▪  </a:t>
            </a:r>
            <a:r>
              <a:rPr sz="1700" b="1" i="0">
                <a:solidFill>
                  <a:srgbClr val="19462B"/>
                </a:solidFill>
                <a:latin typeface="Trebuchet MS"/>
              </a:rPr>
              <a:t>Seven written guides,</a:t>
            </a:r>
            <a:r>
              <a:rPr sz="1700" b="0" i="0">
                <a:solidFill>
                  <a:srgbClr val="1D2A21"/>
                </a:solidFill>
                <a:latin typeface="Trebuchet MS"/>
              </a:rPr>
              <a:t>  kept with the site itself: what you need before you start, deploying it, connecting GitHub, editing the site, running it day to day, and the design notes for the content and membership systems.</a:t>
            </a:r>
          </a:p>
          <a:p>
            <a:pPr>
              <a:spcAft>
                <a:spcPts val="1600"/>
              </a:spcAft>
            </a:pPr>
            <a:r>
              <a:rPr sz="1700" b="1" i="0">
                <a:solidFill>
                  <a:srgbClr val="DA7B37"/>
                </a:solidFill>
                <a:latin typeface="Trebuchet MS"/>
              </a:rPr>
              <a:t>▪  </a:t>
            </a:r>
            <a:r>
              <a:rPr sz="1700" b="1" i="0">
                <a:solidFill>
                  <a:srgbClr val="19462B"/>
                </a:solidFill>
                <a:latin typeface="Trebuchet MS"/>
              </a:rPr>
              <a:t>Help on the screen,</a:t>
            </a:r>
            <a:r>
              <a:rPr sz="1700" b="0" i="0">
                <a:solidFill>
                  <a:srgbClr val="1D2A21"/>
                </a:solidFill>
                <a:latin typeface="Trebuchet MS"/>
              </a:rPr>
              <a:t>  in the admin area: “? Help” for each section, and “How the site works” for the whole picture.</a:t>
            </a:r>
          </a:p>
          <a:p>
            <a:pPr>
              <a:spcAft>
                <a:spcPts val="1600"/>
              </a:spcAft>
            </a:pPr>
            <a:r>
              <a:rPr sz="1700" b="1" i="0">
                <a:solidFill>
                  <a:srgbClr val="DA7B37"/>
                </a:solidFill>
                <a:latin typeface="Trebuchet MS"/>
              </a:rPr>
              <a:t>▪  </a:t>
            </a:r>
            <a:r>
              <a:rPr sz="1700" b="1" i="0">
                <a:solidFill>
                  <a:srgbClr val="19462B"/>
                </a:solidFill>
                <a:latin typeface="Trebuchet MS"/>
              </a:rPr>
              <a:t>One account to look after.</a:t>
            </a:r>
            <a:r>
              <a:rPr sz="1700" b="0" i="0">
                <a:solidFill>
                  <a:srgbClr val="1D2A21"/>
                </a:solidFill>
                <a:latin typeface="Trebuchet MS"/>
              </a:rPr>
              <a:t>  The AWS account and the GitHub organisation are both owned by the Alliance, not by an individual.</a:t>
            </a:r>
          </a:p>
        </p:txBody>
      </p:sp>
      <p:sp>
        <p:nvSpPr>
          <p:cNvPr id="7" name="Rounded Rectangle 6"/>
          <p:cNvSpPr/>
          <p:nvPr/>
        </p:nvSpPr>
        <p:spPr>
          <a:xfrm>
            <a:off x="777240" y="5212080"/>
            <a:ext cx="10607040" cy="777240"/>
          </a:xfrm>
          <a:prstGeom prst="roundRect">
            <a:avLst/>
          </a:prstGeom>
          <a:solidFill>
            <a:srgbClr val="D7E0D9"/>
          </a:solidFill>
          <a:ln w="12700">
            <a:solidFill>
              <a:srgbClr val="4C784B"/>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0" i="0">
                <a:solidFill>
                  <a:srgbClr val="19462B"/>
                </a:solidFill>
                <a:latin typeface="Trebuchet MS"/>
              </a:rPr>
              <a:t>The single most useful thing a new board member can do: sign in, press “? Help”, and read “How the site works”. Ten minutes, once.</a:t>
            </a:r>
          </a:p>
        </p:txBody>
      </p:sp>
      <p:sp>
        <p:nvSpPr>
          <p:cNvPr id="8" name="TextBox 7"/>
          <p:cNvSpPr txBox="1"/>
          <p:nvPr/>
        </p:nvSpPr>
        <p:spPr>
          <a:xfrm>
            <a:off x="777240" y="6355080"/>
            <a:ext cx="7315200" cy="320040"/>
          </a:xfrm>
          <a:prstGeom prst="rect">
            <a:avLst/>
          </a:prstGeom>
          <a:noFill/>
        </p:spPr>
        <p:txBody>
          <a:bodyPr wrap="square">
            <a:spAutoFit/>
          </a:bodyPr>
          <a:lstStyle/>
          <a:p>
            <a:pPr algn="l"/>
            <a:r>
              <a:rPr sz="1000" b="0" i="0">
                <a:solidFill>
                  <a:srgbClr val="556666"/>
                </a:solidFill>
                <a:latin typeface="Trebuchet MS"/>
              </a:rPr>
              <a:t>Austin Area Firewise Alliance</a:t>
            </a:r>
          </a:p>
        </p:txBody>
      </p:sp>
      <p:sp>
        <p:nvSpPr>
          <p:cNvPr id="9" name="TextBox 8"/>
          <p:cNvSpPr txBox="1"/>
          <p:nvPr/>
        </p:nvSpPr>
        <p:spPr>
          <a:xfrm>
            <a:off x="10058400" y="6355080"/>
            <a:ext cx="1371600" cy="320040"/>
          </a:xfrm>
          <a:prstGeom prst="rect">
            <a:avLst/>
          </a:prstGeom>
          <a:noFill/>
        </p:spPr>
        <p:txBody>
          <a:bodyPr wrap="square">
            <a:spAutoFit/>
          </a:bodyPr>
          <a:lstStyle/>
          <a:p>
            <a:pPr algn="r"/>
            <a:r>
              <a:rPr sz="1000" b="0" i="0">
                <a:solidFill>
                  <a:srgbClr val="556666"/>
                </a:solidFill>
                <a:latin typeface="Trebuchet MS"/>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